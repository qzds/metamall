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开场：题目1.7，重点演示3D空间、自动建店和交易闭环。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不要只报功能名，指出每个要求对应的实物：三厂三店、参数建店、订单库存和提交材料。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空间组织参考Decentraland MVFW与BOSS展厅。强调建筑、尺度、动线，不只增加霓虹。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云裳拱廊庭院；极简矩形悬挑艺廊；青禾弧形温室和绿植。现场可切换三个店。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本机可控角色，没有多人联网。服装是类别/颜色示意，不声称精准试衣。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现场改一个结构参数，再改品牌色。预览debounce调用后端，配置由统一规范生成。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指向scene.py和world/architecture.js。发布不是预设第四家；商圈从数据追加。测试比较配置和商品图片。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展示购物车数量2改1、用券与已支付结果。支付为模拟，不真实扣款。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现场Admin看订单、券used_count及库存。说明并发取消只恢复一次，订单不允许直接编辑财务快照。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报告人侯福宽；使用AI编程和文档辅助。没有虚构双人分工。解释实现复用。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高清商圈未达60，流畅模式关闭反射阴影辉光并降像素比，达到60。短样本不外推。23测试+并发脚本。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按此顺序人工排练。预开后台、建店器与结果页，完整发布作为追问。机器自动操作27秒不当成人工3分钟实测。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元宇宙商圈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多个真实工厂，三个品牌世界，一个配置驱动的虚拟商业空间。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01 / 12</a:t>
            </a:r>
          </a:p>
        </p:txBody>
      </p:sp>
      <p:pic>
        <p:nvPicPr>
          <p:cNvPr id="8" name="Picture 7" descr="m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783651"/>
            <a:ext cx="7589520" cy="4269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148840"/>
            <a:ext cx="3474720" cy="1645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800" b="1">
                <a:solidFill>
                  <a:srgbClr val="A4E4EB"/>
                </a:solidFill>
                <a:latin typeface="Microsoft YaHei"/>
              </a:defRPr>
            </a:pPr>
            <a:r>
              <a:t>进入世界</a:t>
            </a:r>
          </a:p>
          <a:p>
            <a:pPr>
              <a:spcAft>
                <a:spcPts val="1200"/>
              </a:spcAft>
              <a:defRPr sz="3800" b="1">
                <a:solidFill>
                  <a:srgbClr val="A4E4EB"/>
                </a:solidFill>
                <a:latin typeface="Microsoft YaHei"/>
              </a:defRPr>
            </a:pPr>
            <a:r>
              <a:t>看见制造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4114800"/>
            <a:ext cx="3474720" cy="1371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Django 5.2.18 + SQLite</a:t>
            </a:r>
          </a:p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原生 Three.js r186</a:t>
            </a:r>
          </a:p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实机截图 · 可现场操作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课程要求，如何落地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核心要求与加分项都对应到实际页面、数据和验证。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3429000" cy="4069080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828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600" b="0">
                <a:solidFill>
                  <a:srgbClr val="A4E4EB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3017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EFF5FA"/>
                </a:solidFill>
                <a:latin typeface="Microsoft YaHei"/>
              </a:defRPr>
            </a:pPr>
            <a:r>
              <a:t>多工厂 / 3D 店铺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017520" cy="1828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3 个工厂、3 个种子品牌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12 件基础商品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动态增加已发布展馆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3429000" cy="4069080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48840"/>
            <a:ext cx="1828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600" b="0">
                <a:solidFill>
                  <a:srgbClr val="A4E4EB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17520"/>
            <a:ext cx="3017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EFF5FA"/>
                </a:solidFill>
                <a:latin typeface="Microsoft YaHei"/>
              </a:defRPr>
            </a:pPr>
            <a:r>
              <a:t>自动建店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40480"/>
            <a:ext cx="3017520" cy="1828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风格、布局、尺寸、灯光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来源商品与品牌参数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实时预览 + 发布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920240"/>
            <a:ext cx="3429000" cy="4069080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19" y="2148840"/>
            <a:ext cx="1828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600" b="0">
                <a:solidFill>
                  <a:srgbClr val="A4E4EB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3017520"/>
            <a:ext cx="3017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EFF5FA"/>
                </a:solidFill>
                <a:latin typeface="Microsoft YaHei"/>
              </a:defRPr>
            </a:pPr>
            <a:r>
              <a:t>交易与交付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3840480"/>
            <a:ext cx="3017520" cy="1828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优惠券、订单、库存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后台、测试、真实数据</a:t>
            </a:r>
          </a:p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源码 + 数据集 + 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把首页变成“到达一个世界”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未来商业中庭、轨道地标、远景城市；三家门头和新增入口同时可见。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03 / 12</a:t>
            </a:r>
          </a:p>
        </p:txBody>
      </p:sp>
      <p:pic>
        <p:nvPicPr>
          <p:cNvPr id="8" name="Picture 7" descr="m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13369"/>
            <a:ext cx="7955279" cy="44748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0" y="2103120"/>
            <a:ext cx="3017520" cy="3566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前景：到达与角色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中景：品牌与入口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后景：城市与星体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地标抬高，避开门头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底部导视可直接进店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577840"/>
            <a:ext cx="292608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AC0D0"/>
                </a:solidFill>
                <a:latin typeface="Microsoft YaHei"/>
              </a:defRPr>
            </a:pPr>
            <a:r>
              <a:t>参考：Decentraland MVFW 2025 / BOSS immersive showroom；链接见报告。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三个品牌，三种建筑语言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差异来自结构、陈列和材质；同一引擎保留品牌辨识度。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04 / 12</a:t>
            </a:r>
          </a:p>
        </p:txBody>
      </p:sp>
      <p:pic>
        <p:nvPicPr>
          <p:cNvPr id="8" name="Picture 7" descr="sto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55" y="1965960"/>
            <a:ext cx="3348736" cy="18836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142232"/>
            <a:ext cx="34747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A4E4EB"/>
                </a:solidFill>
                <a:latin typeface="Microsoft YaHei"/>
              </a:defRPr>
            </a:pPr>
            <a:r>
              <a:t>云裳 · 织光庭院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10328"/>
            <a:ext cx="347472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拱廊 / 暖光 / 织物</a:t>
            </a:r>
          </a:p>
        </p:txBody>
      </p:sp>
      <p:pic>
        <p:nvPicPr>
          <p:cNvPr id="11" name="Picture 10" descr="jij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108" y="1965960"/>
            <a:ext cx="3348736" cy="1883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142232"/>
            <a:ext cx="34747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A4E4EB"/>
                </a:solidFill>
                <a:latin typeface="Microsoft YaHei"/>
              </a:defRPr>
            </a:pPr>
            <a:r>
              <a:t>极简 · 零度艺廊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4910328"/>
            <a:ext cx="347472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悬挑 / 冷光 / 金属</a:t>
            </a:r>
          </a:p>
        </p:txBody>
      </p:sp>
      <p:pic>
        <p:nvPicPr>
          <p:cNvPr id="14" name="Picture 13" descr="qingh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460" y="1965960"/>
            <a:ext cx="3348736" cy="18836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75904" y="4142232"/>
            <a:ext cx="34747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A4E4EB"/>
                </a:solidFill>
                <a:latin typeface="Microsoft YaHei"/>
              </a:defRPr>
            </a:pPr>
            <a:r>
              <a:t>青禾 · 森屿温室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4910328"/>
            <a:ext cx="347472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肋架 / 绿植 / 木材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从旁观场景，到实际进入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WASD 行走，E 进店；点击立体商品，查看真实信息并加购。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05 / 12</a:t>
            </a:r>
          </a:p>
        </p:txBody>
      </p:sp>
      <p:pic>
        <p:nvPicPr>
          <p:cNvPr id="8" name="Picture 7" descr="wal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15" y="1856231"/>
            <a:ext cx="5575808" cy="3136392"/>
          </a:xfrm>
          <a:prstGeom prst="rect">
            <a:avLst/>
          </a:prstGeom>
        </p:spPr>
      </p:pic>
      <p:pic>
        <p:nvPicPr>
          <p:cNvPr id="9" name="Picture 8" descr="interac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216" y="1856231"/>
            <a:ext cx="5575808" cy="3136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632" y="5257800"/>
            <a:ext cx="54864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角色、边界、相机与目的地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5257800"/>
            <a:ext cx="54864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立体物件 → Django 商品 → 购物车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5925312"/>
            <a:ext cx="1097280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AAC0D0"/>
                </a:solidFill>
                <a:latin typeface="Microsoft YaHei"/>
              </a:defRPr>
            </a:pPr>
            <a:r>
              <a:t>本机漫游；服装模型用于款式示意，商品图片 / 价格 / 库存来自实际数据库。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自动建店，参数改变真实空间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不是只有换色：建筑风格、陈列布局、宽深、灯光和装置种子都可配置。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06 / 12</a:t>
            </a:r>
          </a:p>
        </p:txBody>
      </p:sp>
      <p:pic>
        <p:nvPicPr>
          <p:cNvPr id="8" name="Picture 7" descr="buil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32" y="1810512"/>
            <a:ext cx="8225535" cy="462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87968" y="2011680"/>
            <a:ext cx="2834640" cy="4114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风格 × 3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布局 × 3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尺寸与灯光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品牌与来源商品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结构变化重新生成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颜色/名称局部更新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预览与发布，共用一套规范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真实发布“织界未来店”：艺廊 / 岛式 / 14×11 / 冷光 / 种子 861。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07 / 12</a:t>
            </a:r>
          </a:p>
        </p:txBody>
      </p:sp>
      <p:pic>
        <p:nvPicPr>
          <p:cNvPr id="8" name="Picture 7" descr="publis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48802"/>
            <a:ext cx="7406640" cy="4166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2011680"/>
            <a:ext cx="3474720" cy="34747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表单配置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↓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mall/scene.py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↓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world/architecture.js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↙             ↘</a:t>
            </a:r>
          </a:p>
          <a:p>
            <a:pPr>
              <a:spcAft>
                <a:spcPts val="1200"/>
              </a:spcAft>
              <a:defRPr sz="2200" b="0">
                <a:solidFill>
                  <a:srgbClr val="A4E4EB"/>
                </a:solidFill>
                <a:latin typeface="Microsoft YaHei"/>
              </a:defRPr>
            </a:pPr>
            <a:r>
              <a:t>实时预览       正式展馆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5577840"/>
            <a:ext cx="338328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AAC0D0"/>
                </a:solidFill>
                <a:latin typeface="Microsoft YaHei"/>
              </a:defRPr>
            </a:pPr>
            <a:r>
              <a:t>新店商品保留图片、价格、库存、尺码与配色；无来源时不伪造商品。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从 3D 商品到订单，完成闭环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实机订单 D6A336C0B6DC：立领亚麻衬衫 ¥299，WELCOME30 后实付 ¥269。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08 / 12</a:t>
            </a:r>
          </a:p>
        </p:txBody>
      </p:sp>
      <p:pic>
        <p:nvPicPr>
          <p:cNvPr id="8" name="Picture 7" descr="c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89600"/>
            <a:ext cx="5897880" cy="3301759"/>
          </a:xfrm>
          <a:prstGeom prst="rect">
            <a:avLst/>
          </a:prstGeom>
        </p:spPr>
      </p:pic>
      <p:pic>
        <p:nvPicPr>
          <p:cNvPr id="9" name="Picture 8" descr="or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009008"/>
            <a:ext cx="5074920" cy="16629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61888"/>
            <a:ext cx="109728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A4E4EB"/>
                </a:solidFill>
                <a:latin typeface="Microsoft YaHei"/>
              </a:defRPr>
            </a:pPr>
            <a:r>
              <a:t>领券 → 加购 → 改数量 → 验券 → 下单 → 模拟支付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业务结果，可以在后台核验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订单金额快照、商品库存、优惠券核销；前台与后台取消使用同一服务。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09 / 12</a:t>
            </a:r>
          </a:p>
        </p:txBody>
      </p:sp>
      <p:pic>
        <p:nvPicPr>
          <p:cNvPr id="8" name="Picture 7" descr="admin_ord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31" y="1874519"/>
            <a:ext cx="7494016" cy="421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194560"/>
            <a:ext cx="3474720" cy="3566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  <a:r>
              <a:t>条件扣减库存 / 券</a:t>
            </a:r>
          </a:p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  <a:r>
              <a:t>唯一 token 幂等</a:t>
            </a:r>
          </a:p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  <a:r>
              <a:t>订单会话归属校验</a:t>
            </a:r>
          </a:p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  <a:r>
              <a:t>状态转换后恢复一次</a:t>
            </a:r>
          </a:p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2100" b="0">
                <a:solidFill>
                  <a:srgbClr val="EFF5FA"/>
                </a:solidFill>
                <a:latin typeface="Microsoft YaHei"/>
              </a:defRPr>
            </a:pPr>
            <a:r>
              <a:t>Admin 统一取消动作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保留轻量技术，明确复用边界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无 Vue / React / Node 构建；本地资源、同一场景规范、一个业务事务。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247120" cy="758952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84832"/>
            <a:ext cx="41148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Templates + 原生 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112264"/>
            <a:ext cx="64922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交互 / 表单 / 异步购物车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89504"/>
            <a:ext cx="11247120" cy="758952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54096"/>
            <a:ext cx="41148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WorldRuntime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081528"/>
            <a:ext cx="64922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统一生命周期；共享建筑与服装生成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58768"/>
            <a:ext cx="11247120" cy="758952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023359"/>
            <a:ext cx="41148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mall/scene.py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0791"/>
            <a:ext cx="64922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配置规范 → 预览与正式场景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28032"/>
            <a:ext cx="11247120" cy="758952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992624"/>
            <a:ext cx="41148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A4E4EB"/>
                </a:solidFill>
                <a:latin typeface="Microsoft YaHei"/>
              </a:defRPr>
            </a:pPr>
            <a:r>
              <a:t>Django + SQLite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020056"/>
            <a:ext cx="64922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Factory / Store / Product / Order / Coupon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报告人：侯福宽；实现、资料整理与验证使用 AI 辅助，原始证据随提交包提供。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性能与正确性，用实测回答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Chrome 155 / Iris Xe / DPR 1；4 店；预热 1.2 秒 + rAF 采样 3 秒 / 场景。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84248"/>
            <a:ext cx="3657600" cy="1371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54</a:t>
            </a:r>
          </a:p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商圈高清静止 FPS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984248"/>
            <a:ext cx="3474720" cy="1371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60</a:t>
            </a:r>
          </a:p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店内高清 FPS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984248"/>
            <a:ext cx="3291840" cy="1371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59</a:t>
            </a:r>
          </a:p>
          <a:p>
            <a:pPr>
              <a:spcAft>
                <a:spcPts val="1200"/>
              </a:spcAft>
              <a:defRPr sz="3100" b="1">
                <a:solidFill>
                  <a:srgbClr val="A4E4EB"/>
                </a:solidFill>
                <a:latin typeface="Microsoft YaHei"/>
              </a:defRPr>
            </a:pPr>
            <a:r>
              <a:t>商圈流畅 FPS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10972800" cy="21945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移动导览另测 45.7 FPS；反射：商圈 1024 / 店内 768。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静止缓存 100ms；镜头移动立即更新；阴影与辉光开启。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23 项 Django 测试通过；8 请求争抢 1 库存，只生成 1 单。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4 并发取消仅恢复 1 次；同 token 双提交仅 1 单。</a:t>
            </a:r>
          </a:p>
          <a:p>
            <a:pPr>
              <a:spcAft>
                <a:spcPts val="1200"/>
              </a:spcAft>
              <a:defRPr sz="2000" b="0">
                <a:solidFill>
                  <a:srgbClr val="EFF5FA"/>
                </a:solidFill>
                <a:latin typeface="Microsoft YaHei"/>
              </a:defRPr>
            </a:pPr>
            <a:r>
              <a:t>建店器 12 次风格切换：纹理 28，反射目标始终为 1。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A4E4EB"/>
                </a:solidFill>
                <a:latin typeface="Microsoft YaHei"/>
              </a:defRPr>
            </a:pPr>
            <a:r>
              <a:t>METAMALL  /  ERP 1.7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648"/>
            <a:ext cx="113385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EFF5FA"/>
                </a:solidFill>
                <a:latin typeface="Microsoft YaHei"/>
              </a:defRPr>
            </a:pPr>
            <a:r>
              <a:t>现场 Demo：三分钟看完整条链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80160"/>
            <a:ext cx="111556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AAC0D0"/>
                </a:solidFill>
                <a:latin typeface="Microsoft YaHei"/>
              </a:defRPr>
            </a:pPr>
            <a:r>
              <a:t>先展示世界和差异，再证明配置生成与业务闭环。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464808"/>
            <a:ext cx="11338560" cy="10972"/>
          </a:xfrm>
          <a:prstGeom prst="rect">
            <a:avLst/>
          </a:prstGeom>
          <a:solidFill>
            <a:srgbClr val="294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6574536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AAC0D0"/>
                </a:solidFill>
                <a:latin typeface="Microsoft YaHei"/>
              </a:defRPr>
            </a:pPr>
            <a:r>
              <a:t>侯福宽 · 软件工程 · 2026.10.20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56248"/>
            <a:ext cx="82296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A4E4EB"/>
                </a:solidFill>
                <a:latin typeface="Microsoft YaHei"/>
              </a:defRPr>
            </a:pPr>
            <a: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6766560" cy="4114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00:00  商圈 / 角色 / 三品牌</a:t>
            </a:r>
          </a:p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00:25  进入云裳 / 选商品</a:t>
            </a:r>
          </a:p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00:55  用券 / 下单 / 模拟支付</a:t>
            </a:r>
          </a:p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01:30  建店参数 / 新店</a:t>
            </a:r>
          </a:p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02:10  后台订单 / 库存 / 券</a:t>
            </a:r>
          </a:p>
          <a:p>
            <a:pPr>
              <a:spcAft>
                <a:spcPts val="1200"/>
              </a:spcAft>
              <a:defRPr sz="2300" b="0">
                <a:solidFill>
                  <a:srgbClr val="EFF5FA"/>
                </a:solidFill>
                <a:latin typeface="Microsoft YaHei"/>
              </a:defRPr>
            </a:pPr>
            <a:r>
              <a:t>02:40  实测数据 / 实现边界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920240"/>
            <a:ext cx="4023360" cy="4160520"/>
          </a:xfrm>
          <a:prstGeom prst="rect">
            <a:avLst/>
          </a:prstGeom>
          <a:solidFill>
            <a:srgbClr val="15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0416" y="2331720"/>
            <a:ext cx="338328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A4E4EB"/>
                </a:solidFill>
                <a:latin typeface="Microsoft YaHei"/>
              </a:defRPr>
            </a:pPr>
            <a:r>
              <a:t>打开新版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0416" y="3291840"/>
            <a:ext cx="3474720" cy="10058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FF5FA"/>
                </a:solidFill>
                <a:latin typeface="Microsoft YaHei"/>
              </a:defRPr>
            </a:pPr>
            <a:r>
              <a:t>http://10.24.116.90:3002/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416" y="4663440"/>
            <a:ext cx="3474720" cy="11887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源码 / 数据集 / 报告</a:t>
            </a:r>
          </a:p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12 页 PPT / PDF</a:t>
            </a:r>
          </a:p>
          <a:p>
            <a:pPr>
              <a:spcAft>
                <a:spcPts val="1200"/>
              </a:spcAft>
              <a:defRPr sz="1800" b="0">
                <a:solidFill>
                  <a:srgbClr val="EFF5FA"/>
                </a:solidFill>
                <a:latin typeface="Microsoft YaHei"/>
              </a:defRPr>
            </a:pPr>
            <a:r>
              <a:t>实机截图 / 原始验证数据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