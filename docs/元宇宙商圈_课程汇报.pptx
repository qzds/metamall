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开场（20秒）：各位老师好，我们做的是 ERP 课程题目 1.7 元宇宙商圈。这版是 v2 精简版，重点不是堆电商功能，而是把“多个服装工厂的 3D 店铺 + 自动建店 + 下单/优惠券”做成一个能现场演示的闭环。右边是当前部署版本的实机截图。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秒：原题容易做成“6个门面、只有3个能进”的半成品。我们反过来：3个门面全部对应完整店铺，第4家在现场用建店器生成。这样老师看到的是“多工厂”，而不是一堆空门面。右侧三张卡就是三个种子工厂，颜色和定位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30秒：这是汇报的主线，也是现场 Demo 的顺序。先看商圈，再进一家店，选商品、用券、下单，最后切到后台看订单和库存。每一步都只保留一个视觉重点，避免在台上操作过多。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45秒：这是商圈的第一眼。三个门面分别对应云裳、极简、青禾，品牌色和招牌不同；不是三张固定贴图，店铺内景也是按配置生成的。第 4 家会在建站器演示时出现。这张是概念图，开发后替换成实机截图。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秒：建站器是项目的核心差异化。左边三步：品牌、模板、商品；右边实时预览。注意三个工程点：配置真的参与几何生成；预览是增量更新，不是每次重建；发布后第4个门面出现。不讲代码细节，只讲“为什么这不是固定模板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秒：交易只做一条必要线。访客也能下单，券码在结算时校验，后台能看到库存和券的变化。工程上最重要的是：双击提交不会重复下单，券不会超用，取消订单只恢复一次。真实支付、用户钱包、积分都不做，避免把项目做成商业电商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40秒：技术栈刻意保持简单。浏览器是 Django 模板加原生 Three.js；服务器是一个 gunicorn 进程；数据是 SQLite。没有 Node 构建、没有 React、没有 Nginx。部署用 venv + tmux + 3000 端口，不改共享服务器配置；如果 3000 被拦，就用 SSH 隧道。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40秒：这部分是给答辩加分的。第一，配置真的参与生成；第二，SQLite 没有 select_for_update，我们用条件更新、行数检查、幂等键和唯一约束；第三，预览不是每次重建，资源要释放。这三句话能直接把项目从“3D 作业”拉到“有工程考虑的系统”。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40秒：这不是拍脑袋。我们用可见 Chrome、Iris Xe 实测了一个店铺式场景：55.8 FPS、80 draw calls、2,616 三角形。注意这是店铺，不是完整商圈；完整商圈还要做尖峰。服务器 3000 入站我尚未验证，部署后要测，不通就用 SSH 隧道。这个态度比报一个虚高的数字更有说服力。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35秒：这一页是诚实说明。v1 分项相加 34–43 人天，两人 4 周只有 8–10 人天，做不完。v2 砍到 10–14 人天，仍然需要第 5 周缓冲。砍的是 NPC、大屏、商家权限、2D 页；保的是 3 个完整店铺、真生成、下单和券。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30秒：分工按能力切，不按页面切。A 负责数据、事务、部署；B 负责 3D、建站器、演示。第1周先做3份店铺配置和一个店铺壳，测FPS；第2周3店+商圈；第3周建站器和交易；第4周部署和材料；第5周缓冲。关键路径是3D和建站器，不是后台。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 30 秒：现场按这个脚本走，控制在 3 分钟。如果老师问为什么 3 家，回答‘3 家全完整 + 第4家现场生成’；问 SQLite 并发，回答条件更新+幂等；问商家权限，回答 MVP 平台 Admin，商家页是 stretch。最后说：开发后会把概念图换成实机截图和录屏。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ll_concept.png"/>
          <p:cNvPicPr>
            <a:picLocks noChangeAspect="1"/>
          </p:cNvPicPr>
          <p:nvPr/>
        </p:nvPicPr>
        <p:blipFill>
          <a:blip r:embed="rId2"/>
          <a:srcRect t="12000" b="10000"/>
          <a:stretch>
            <a:fillRect/>
          </a:stretch>
        </p:blipFill>
        <p:spPr>
          <a:xfrm>
            <a:off x="0" y="2697480"/>
            <a:ext cx="12191695" cy="41605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555480" y="566928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10344" y="585216"/>
            <a:ext cx="1856231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微软雅黑"/>
              </a:rPr>
              <a:t>v2 精简版 · 12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D9A441"/>
                </a:solidFill>
                <a:latin typeface="微软雅黑"/>
              </a:rPr>
              <a:t>ERP 课程大作业 · 题目 1.7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87552"/>
            <a:ext cx="9692640" cy="8412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5000" b="1" i="0">
                <a:solidFill>
                  <a:srgbClr val="F4EFE7"/>
                </a:solidFill>
                <a:latin typeface="微软雅黑"/>
              </a:rPr>
              <a:t>元宇宙商圈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847088"/>
            <a:ext cx="987552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E8E0D4"/>
                </a:solidFill>
                <a:latin typeface="微软雅黑"/>
              </a:rPr>
              <a:t>多工厂 3D 虚拟店铺与自动建店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313432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B4B2AC"/>
                </a:solidFill>
                <a:latin typeface="微软雅黑"/>
              </a:rPr>
              <a:t>3 个完整店铺 · 第 4 家现场生成 · 下单 / 优惠券闭环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233172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950" b="0" i="0">
                <a:solidFill>
                  <a:srgbClr val="AAA8A2"/>
                </a:solidFill>
                <a:latin typeface="微软雅黑"/>
              </a:rPr>
              <a:t>汇报：侯福宽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2542032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950" b="0" i="0">
                <a:solidFill>
                  <a:srgbClr val="AAA8A2"/>
                </a:solidFill>
                <a:latin typeface="微软雅黑"/>
              </a:rPr>
              <a:t>2026.10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73952"/>
            <a:ext cx="8686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787878"/>
                </a:solidFill>
                <a:latin typeface="微软雅黑"/>
              </a:rPr>
              <a:t>ERP 1.7 · 元宇宙商圈 · v2 精简版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 i="0">
                <a:solidFill>
                  <a:srgbClr val="787878"/>
                </a:solidFill>
                <a:latin typeface="Georgia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D9A441"/>
                </a:solidFill>
                <a:latin typeface="Georgia"/>
              </a:rPr>
              <a:t>WHY THIS TOPIC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603504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300" b="1" i="0">
                <a:solidFill>
                  <a:srgbClr val="141824"/>
                </a:solidFill>
                <a:latin typeface="微软雅黑"/>
              </a:rPr>
              <a:t>可演示的“建店器”，不是电商系统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783080"/>
            <a:ext cx="52120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706C64"/>
                </a:solidFill>
                <a:latin typeface="微软雅黑"/>
              </a:rPr>
              <a:t>原题要的是多个服装工厂、每个工厂一个 3D 虚拟店铺。我们把范围收窄成：3 个真实门面 + 3 家完整店 + 现场生成第 4 家。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880360"/>
            <a:ext cx="384048" cy="384048"/>
          </a:xfrm>
          <a:prstGeom prst="ellipse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94076"/>
            <a:ext cx="384048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512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862072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41824"/>
                </a:solidFill>
                <a:latin typeface="微软雅黑"/>
              </a:rPr>
              <a:t>真实门面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311810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706C64"/>
                </a:solidFill>
                <a:latin typeface="微软雅黑"/>
              </a:rPr>
              <a:t>每个门面都能进，不做“假店铺”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749039"/>
            <a:ext cx="384048" cy="384048"/>
          </a:xfrm>
          <a:prstGeom prst="ellipse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62755"/>
            <a:ext cx="384048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134" b="1" i="0">
                <a:solidFill>
                  <a:srgbClr val="FFFFFF"/>
                </a:solidFill>
                <a:latin typeface="Georgia"/>
              </a:rPr>
              <a:t>3+1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730752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41824"/>
                </a:solidFill>
                <a:latin typeface="微软雅黑"/>
              </a:rPr>
              <a:t>完整店铺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986783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706C64"/>
                </a:solidFill>
                <a:latin typeface="微软雅黑"/>
              </a:rPr>
              <a:t>3 家种子店，现场再建 1 家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617720"/>
            <a:ext cx="384048" cy="384048"/>
          </a:xfrm>
          <a:prstGeom prst="ellipse">
            <a:avLst/>
          </a:prstGeom>
          <a:solidFill>
            <a:srgbClr val="3D7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631436"/>
            <a:ext cx="384048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512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4599432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41824"/>
                </a:solidFill>
                <a:latin typeface="微软雅黑"/>
              </a:rPr>
              <a:t>自动建店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485546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706C64"/>
                </a:solidFill>
                <a:latin typeface="微软雅黑"/>
              </a:rPr>
              <a:t>配置改变，场景真的改变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59" y="1380744"/>
            <a:ext cx="5074920" cy="914400"/>
          </a:xfrm>
          <a:prstGeom prst="rect">
            <a:avLst/>
          </a:prstGeom>
          <a:solidFill>
            <a:srgbClr val="E8E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92240" y="1325880"/>
            <a:ext cx="507492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DB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1325880"/>
            <a:ext cx="64008" cy="914400"/>
          </a:xfrm>
          <a:prstGeom prst="rect">
            <a:avLst/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149047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41824"/>
                </a:solidFill>
                <a:latin typeface="微软雅黑"/>
              </a:rPr>
              <a:t>云裳制衣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182880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706C64"/>
                </a:solidFill>
                <a:latin typeface="微软雅黑"/>
              </a:rPr>
              <a:t>东方剪裁 · 现代日常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78440" y="1609344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EE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33304" y="1627632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141824"/>
                </a:solidFill>
                <a:latin typeface="微软雅黑"/>
              </a:rPr>
              <a:t>进店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59" y="2459736"/>
            <a:ext cx="5074920" cy="914400"/>
          </a:xfrm>
          <a:prstGeom prst="rect">
            <a:avLst/>
          </a:prstGeom>
          <a:solidFill>
            <a:srgbClr val="E8E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240" y="2404872"/>
            <a:ext cx="507492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DB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92240" y="2404872"/>
            <a:ext cx="64008" cy="914400"/>
          </a:xfrm>
          <a:prstGeom prst="rect">
            <a:avLst/>
          </a:prstGeom>
          <a:solidFill>
            <a:srgbClr val="969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256946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41824"/>
                </a:solidFill>
                <a:latin typeface="微软雅黑"/>
              </a:rPr>
              <a:t>极简工坊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2907791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706C64"/>
                </a:solidFill>
                <a:latin typeface="微软雅黑"/>
              </a:rPr>
              <a:t>黑白灰 · 克制陈列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378440" y="2688336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EE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33304" y="2706624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141824"/>
                </a:solidFill>
                <a:latin typeface="微软雅黑"/>
              </a:rPr>
              <a:t>进店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37959" y="3538727"/>
            <a:ext cx="5074920" cy="914400"/>
          </a:xfrm>
          <a:prstGeom prst="rect">
            <a:avLst/>
          </a:prstGeom>
          <a:solidFill>
            <a:srgbClr val="E8E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92240" y="3483863"/>
            <a:ext cx="507492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DB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92240" y="3483863"/>
            <a:ext cx="64008" cy="914400"/>
          </a:xfrm>
          <a:prstGeom prst="rect">
            <a:avLst/>
          </a:prstGeom>
          <a:solidFill>
            <a:srgbClr val="5F8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364845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41824"/>
                </a:solidFill>
                <a:latin typeface="微软雅黑"/>
              </a:rPr>
              <a:t>青禾服饰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3986783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706C64"/>
                </a:solidFill>
                <a:latin typeface="微软雅黑"/>
              </a:rPr>
              <a:t>自然色 · 轻松日常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378440" y="3767327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EE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33304" y="3785615"/>
            <a:ext cx="75895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141824"/>
                </a:solidFill>
                <a:latin typeface="微软雅黑"/>
              </a:rPr>
              <a:t>进店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37959" y="4645151"/>
            <a:ext cx="5074920" cy="914400"/>
          </a:xfrm>
          <a:prstGeom prst="rect">
            <a:avLst/>
          </a:prstGeom>
          <a:solidFill>
            <a:srgbClr val="E8E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92240" y="4590288"/>
            <a:ext cx="5074920" cy="914400"/>
          </a:xfrm>
          <a:prstGeom prst="rect">
            <a:avLst/>
          </a:prstGeom>
          <a:solidFill>
            <a:srgbClr val="E07A5F"/>
          </a:solidFill>
          <a:ln w="8890">
            <a:solidFill>
              <a:srgbClr val="DB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840" y="47548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FFFFFF"/>
                </a:solidFill>
                <a:latin typeface="微软雅黑"/>
              </a:rPr>
              <a:t>第 4 家：现场生成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5093208"/>
            <a:ext cx="42062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FFF0E8"/>
                </a:solidFill>
                <a:latin typeface="微软雅黑"/>
              </a:rPr>
              <a:t>选模板 / 配色 / 商品，发布后出现在商圈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473952"/>
            <a:ext cx="8686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787878"/>
                </a:solidFill>
                <a:latin typeface="微软雅黑"/>
              </a:rPr>
              <a:t>ERP 1.7 · 元宇宙商圈 · v2 精简版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 i="0">
                <a:solidFill>
                  <a:srgbClr val="787878"/>
                </a:solidFill>
                <a:latin typeface="Georgia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73952"/>
            <a:ext cx="8686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787878"/>
                </a:solidFill>
                <a:latin typeface="微软雅黑"/>
              </a:rPr>
              <a:t>ERP 1.7 · 元宇宙商圈 · v2 精简版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 i="0">
                <a:solidFill>
                  <a:srgbClr val="787878"/>
                </a:solidFill>
                <a:latin typeface="Georgia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D9A441"/>
                </a:solidFill>
                <a:latin typeface="Georgia"/>
              </a:rPr>
              <a:t>3-MINUTE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603504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41824"/>
                </a:solidFill>
                <a:latin typeface="微软雅黑"/>
              </a:rPr>
              <a:t>一条动线讲完整个项目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37943"/>
            <a:ext cx="2048256" cy="3063240"/>
          </a:xfrm>
          <a:prstGeom prst="rect">
            <a:avLst/>
          </a:prstGeom>
          <a:solidFill>
            <a:srgbClr val="E8E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2048256" cy="3063240"/>
          </a:xfrm>
          <a:prstGeom prst="rect">
            <a:avLst/>
          </a:prstGeom>
          <a:solidFill>
            <a:srgbClr val="FFFFFF"/>
          </a:solidFill>
          <a:ln w="8890">
            <a:solidFill>
              <a:srgbClr val="DB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783080"/>
            <a:ext cx="64008" cy="306324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528" y="1975104"/>
            <a:ext cx="402336" cy="402336"/>
          </a:xfrm>
          <a:prstGeom prst="ellipse">
            <a:avLst/>
          </a:prstGeom>
          <a:solidFill>
            <a:srgbClr val="3D7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988820"/>
            <a:ext cx="402336" cy="3749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188" b="1" i="0">
                <a:solidFill>
                  <a:srgbClr val="FFFFFF"/>
                </a:solidFill>
                <a:latin typeface="Georg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542032"/>
            <a:ext cx="16824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41824"/>
                </a:solidFill>
                <a:latin typeface="微软雅黑"/>
              </a:rPr>
              <a:t>进商圈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944368"/>
            <a:ext cx="1682496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706C64"/>
                </a:solidFill>
                <a:latin typeface="微软雅黑"/>
              </a:rPr>
              <a:t>3 个门面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706C64"/>
                </a:solidFill>
                <a:latin typeface="微软雅黑"/>
              </a:rPr>
              <a:t>自由漫游 / 环视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65476" y="3154680"/>
            <a:ext cx="137160" cy="182880"/>
          </a:xfrm>
          <a:prstGeom prst="rightArrow">
            <a:avLst/>
          </a:prstGeom>
          <a:solidFill>
            <a:srgbClr val="DB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71216" y="1837943"/>
            <a:ext cx="2048256" cy="3063240"/>
          </a:xfrm>
          <a:prstGeom prst="rect">
            <a:avLst/>
          </a:prstGeom>
          <a:solidFill>
            <a:srgbClr val="E8E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25496" y="1783080"/>
            <a:ext cx="2048256" cy="3063240"/>
          </a:xfrm>
          <a:prstGeom prst="rect">
            <a:avLst/>
          </a:prstGeom>
          <a:solidFill>
            <a:srgbClr val="FFFFFF"/>
          </a:solidFill>
          <a:ln w="8890">
            <a:solidFill>
              <a:srgbClr val="DB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26664" y="1975104"/>
            <a:ext cx="402336" cy="402336"/>
          </a:xfrm>
          <a:prstGeom prst="ellipse">
            <a:avLst/>
          </a:prstGeom>
          <a:solidFill>
            <a:srgbClr val="3D7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26664" y="1988820"/>
            <a:ext cx="402336" cy="3749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188" b="1" i="0">
                <a:solidFill>
                  <a:srgbClr val="FFFFFF"/>
                </a:solidFill>
                <a:latin typeface="Georgia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26664" y="2542032"/>
            <a:ext cx="16824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41824"/>
                </a:solidFill>
                <a:latin typeface="微软雅黑"/>
              </a:rPr>
              <a:t>进店铺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26664" y="2944368"/>
            <a:ext cx="1682496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706C64"/>
                </a:solidFill>
                <a:latin typeface="微软雅黑"/>
              </a:rPr>
              <a:t>看货架 / 商品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706C64"/>
                </a:solidFill>
                <a:latin typeface="微软雅黑"/>
              </a:rPr>
              <a:t>品牌色 + 招牌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896612" y="3154680"/>
            <a:ext cx="137160" cy="182880"/>
          </a:xfrm>
          <a:prstGeom prst="rightArrow">
            <a:avLst/>
          </a:prstGeom>
          <a:solidFill>
            <a:srgbClr val="DB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02352" y="1837943"/>
            <a:ext cx="2048256" cy="3063240"/>
          </a:xfrm>
          <a:prstGeom prst="rect">
            <a:avLst/>
          </a:prstGeom>
          <a:solidFill>
            <a:srgbClr val="E8E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56632" y="1783080"/>
            <a:ext cx="2048256" cy="3063240"/>
          </a:xfrm>
          <a:prstGeom prst="rect">
            <a:avLst/>
          </a:prstGeom>
          <a:solidFill>
            <a:srgbClr val="FFFFFF"/>
          </a:solidFill>
          <a:ln w="8890">
            <a:solidFill>
              <a:srgbClr val="DB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257800" y="1975104"/>
            <a:ext cx="402336" cy="402336"/>
          </a:xfrm>
          <a:prstGeom prst="ellipse">
            <a:avLst/>
          </a:prstGeom>
          <a:solidFill>
            <a:srgbClr val="3D7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57800" y="1988820"/>
            <a:ext cx="402336" cy="3749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188" b="1" i="0">
                <a:solidFill>
                  <a:srgbClr val="FFFFFF"/>
                </a:solidFill>
                <a:latin typeface="Georgia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2542032"/>
            <a:ext cx="16824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41824"/>
                </a:solidFill>
                <a:latin typeface="微软雅黑"/>
              </a:rPr>
              <a:t>选商品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2944368"/>
            <a:ext cx="1682496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706C64"/>
                </a:solidFill>
                <a:latin typeface="微软雅黑"/>
              </a:rPr>
              <a:t>3D 画框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706C64"/>
                </a:solidFill>
                <a:latin typeface="微软雅黑"/>
              </a:rPr>
              <a:t>HTML 详情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127748" y="3154680"/>
            <a:ext cx="137160" cy="182880"/>
          </a:xfrm>
          <a:prstGeom prst="rightArrow">
            <a:avLst/>
          </a:prstGeom>
          <a:solidFill>
            <a:srgbClr val="DB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33488" y="1837943"/>
            <a:ext cx="2048256" cy="3063240"/>
          </a:xfrm>
          <a:prstGeom prst="rect">
            <a:avLst/>
          </a:prstGeom>
          <a:solidFill>
            <a:srgbClr val="E8E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87768" y="1783080"/>
            <a:ext cx="2048256" cy="3063240"/>
          </a:xfrm>
          <a:prstGeom prst="rect">
            <a:avLst/>
          </a:prstGeom>
          <a:solidFill>
            <a:srgbClr val="FFFFFF"/>
          </a:solidFill>
          <a:ln w="8890">
            <a:solidFill>
              <a:srgbClr val="DB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87768" y="1783080"/>
            <a:ext cx="64008" cy="306324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488936" y="1975104"/>
            <a:ext cx="402336" cy="402336"/>
          </a:xfrm>
          <a:prstGeom prst="ellipse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88936" y="1988820"/>
            <a:ext cx="402336" cy="3749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188" b="1" i="0">
                <a:solidFill>
                  <a:srgbClr val="FFFFFF"/>
                </a:solidFill>
                <a:latin typeface="Georgia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2542032"/>
            <a:ext cx="16824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41824"/>
                </a:solidFill>
                <a:latin typeface="微软雅黑"/>
              </a:rPr>
              <a:t>用券下单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2944368"/>
            <a:ext cx="1682496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706C64"/>
                </a:solidFill>
                <a:latin typeface="微软雅黑"/>
              </a:rPr>
              <a:t>券码校验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706C64"/>
                </a:solidFill>
                <a:latin typeface="微软雅黑"/>
              </a:rPr>
              <a:t>库存扣减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358884" y="3154680"/>
            <a:ext cx="137160" cy="182880"/>
          </a:xfrm>
          <a:prstGeom prst="rightArrow">
            <a:avLst/>
          </a:prstGeom>
          <a:solidFill>
            <a:srgbClr val="DB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64624" y="1837943"/>
            <a:ext cx="2048256" cy="3063240"/>
          </a:xfrm>
          <a:prstGeom prst="rect">
            <a:avLst/>
          </a:prstGeom>
          <a:solidFill>
            <a:srgbClr val="E8E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518904" y="1783080"/>
            <a:ext cx="2048256" cy="3063240"/>
          </a:xfrm>
          <a:prstGeom prst="rect">
            <a:avLst/>
          </a:prstGeom>
          <a:solidFill>
            <a:srgbClr val="FFFFFF"/>
          </a:solidFill>
          <a:ln w="8890">
            <a:solidFill>
              <a:srgbClr val="DB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20072" y="1975104"/>
            <a:ext cx="402336" cy="402336"/>
          </a:xfrm>
          <a:prstGeom prst="ellipse">
            <a:avLst/>
          </a:prstGeom>
          <a:solidFill>
            <a:srgbClr val="3D7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20072" y="1988820"/>
            <a:ext cx="402336" cy="3749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188" b="1" i="0">
                <a:solidFill>
                  <a:srgbClr val="FFFFFF"/>
                </a:solidFill>
                <a:latin typeface="Georgia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20072" y="2542032"/>
            <a:ext cx="16824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41824"/>
                </a:solidFill>
                <a:latin typeface="微软雅黑"/>
              </a:rPr>
              <a:t>后台看单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20072" y="2944368"/>
            <a:ext cx="1682496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706C64"/>
                </a:solidFill>
                <a:latin typeface="微软雅黑"/>
              </a:rPr>
              <a:t>订单 / 库存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706C64"/>
                </a:solidFill>
                <a:latin typeface="微软雅黑"/>
              </a:rPr>
              <a:t>券核销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5212080"/>
            <a:ext cx="10972800" cy="530352"/>
          </a:xfrm>
          <a:prstGeom prst="rect">
            <a:avLst/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358384"/>
            <a:ext cx="7589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4EFE7"/>
                </a:solidFill>
                <a:latin typeface="微软雅黑"/>
              </a:rPr>
              <a:t>现场演示目标：3 分钟内完成“进店 → 用券 → 下单 → 后台看到订单”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78440" y="5358384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850" b="1" i="0">
                <a:solidFill>
                  <a:srgbClr val="B4B2AC"/>
                </a:solidFill>
                <a:latin typeface="Georgia"/>
              </a:rPr>
              <a:t>DEMO 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73952"/>
            <a:ext cx="8686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96969B"/>
                </a:solidFill>
                <a:latin typeface="微软雅黑"/>
              </a:rPr>
              <a:t>ERP 1.7 · 元宇宙商圈 · v2 精简版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 i="0">
                <a:solidFill>
                  <a:srgbClr val="96969B"/>
                </a:solidFill>
                <a:latin typeface="Georgia"/>
              </a:rPr>
              <a:t>04</a:t>
            </a:r>
          </a:p>
        </p:txBody>
      </p:sp>
      <p:pic>
        <p:nvPicPr>
          <p:cNvPr id="4" name="Picture 3" descr="mall_concept.png"/>
          <p:cNvPicPr>
            <a:picLocks noChangeAspect="1"/>
          </p:cNvPicPr>
          <p:nvPr/>
        </p:nvPicPr>
        <p:blipFill>
          <a:blip r:embed="rId2"/>
          <a:srcRect b="450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4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329184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D9A441"/>
                </a:solidFill>
                <a:latin typeface="Georgia"/>
              </a:rPr>
              <a:t>THE DISTRICT / 3 STOREFRONTS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66928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4EFE7"/>
                </a:solidFill>
                <a:latin typeface="微软雅黑"/>
              </a:rPr>
              <a:t>3D 商圈：3 个真实门面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115568"/>
            <a:ext cx="87782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C8C6C0"/>
                </a:solidFill>
                <a:latin typeface="微软雅黑"/>
              </a:rPr>
              <a:t>每个门面都对应一家完整店铺；第 4 家由建站器现场生成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 i="0">
                <a:solidFill>
                  <a:srgbClr val="D9A441"/>
                </a:solidFill>
                <a:latin typeface="微软雅黑"/>
              </a:rPr>
              <a:t>3 个门面 · 3 家完整店 · 第 4 家现场生成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272784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A09E98"/>
                </a:solidFill>
                <a:latin typeface="微软雅黑"/>
              </a:rPr>
              <a:t>实机截图 · 2026-10-20 · 1920×1080 视口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8686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96969B"/>
                </a:solidFill>
                <a:latin typeface="微软雅黑"/>
              </a:rPr>
              <a:t>ERP 1.7 · 元宇宙商圈 · v2 精简版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 i="0">
                <a:solidFill>
                  <a:srgbClr val="96969B"/>
                </a:solidFill>
                <a:latin typeface="Georgia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73952"/>
            <a:ext cx="8686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787878"/>
                </a:solidFill>
                <a:latin typeface="微软雅黑"/>
              </a:rPr>
              <a:t>ERP 1.7 · 元宇宙商圈 · v2 精简版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 i="0">
                <a:solidFill>
                  <a:srgbClr val="787878"/>
                </a:solidFill>
                <a:latin typeface="Georgia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D9A441"/>
                </a:solidFill>
                <a:latin typeface="Georgia"/>
              </a:rPr>
              <a:t>AUTO STORE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603504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300" b="1" i="0">
                <a:solidFill>
                  <a:srgbClr val="141824"/>
                </a:solidFill>
                <a:latin typeface="微软雅黑"/>
              </a:rPr>
              <a:t>自动建店：配置真的会改变场景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41732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706C64"/>
                </a:solidFill>
                <a:latin typeface="微软雅黑"/>
              </a:rPr>
              <a:t>不是“换一张固定模板”，而是同一套生成函数读取不同配置。</a:t>
            </a:r>
          </a:p>
        </p:txBody>
      </p:sp>
      <p:sp>
        <p:nvSpPr>
          <p:cNvPr id="7" name="Oval 6"/>
          <p:cNvSpPr/>
          <p:nvPr/>
        </p:nvSpPr>
        <p:spPr>
          <a:xfrm>
            <a:off x="621792" y="2103120"/>
            <a:ext cx="365760" cy="365760"/>
          </a:xfrm>
          <a:prstGeom prst="ellipse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116836"/>
            <a:ext cx="365760" cy="3383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44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084831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41824"/>
                </a:solidFill>
                <a:latin typeface="微软雅黑"/>
              </a:rPr>
              <a:t>品牌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322576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80" b="0" i="0">
                <a:solidFill>
                  <a:srgbClr val="706C64"/>
                </a:solidFill>
                <a:latin typeface="微软雅黑"/>
              </a:rPr>
              <a:t>店名 / 标语 / Logo / 品牌色</a:t>
            </a:r>
          </a:p>
        </p:txBody>
      </p:sp>
      <p:sp>
        <p:nvSpPr>
          <p:cNvPr id="11" name="Oval 10"/>
          <p:cNvSpPr/>
          <p:nvPr/>
        </p:nvSpPr>
        <p:spPr>
          <a:xfrm>
            <a:off x="621792" y="3145535"/>
            <a:ext cx="365760" cy="365760"/>
          </a:xfrm>
          <a:prstGeom prst="ellipse">
            <a:avLst/>
          </a:prstGeom>
          <a:solidFill>
            <a:srgbClr val="3D7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3159251"/>
            <a:ext cx="365760" cy="3383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44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127247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41824"/>
                </a:solidFill>
                <a:latin typeface="微软雅黑"/>
              </a:rPr>
              <a:t>模板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364991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80" b="0" i="0">
                <a:solidFill>
                  <a:srgbClr val="706C64"/>
                </a:solidFill>
                <a:latin typeface="微软雅黑"/>
              </a:rPr>
              <a:t>精品店 / 极简店 + 尺寸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" y="4187952"/>
            <a:ext cx="365760" cy="365760"/>
          </a:xfrm>
          <a:prstGeom prst="ellipse">
            <a:avLst/>
          </a:prstGeom>
          <a:solidFill>
            <a:srgbClr val="3D7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4201668"/>
            <a:ext cx="365760" cy="3383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44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169664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41824"/>
                </a:solidFill>
                <a:latin typeface="微软雅黑"/>
              </a:rPr>
              <a:t>商品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407408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80" b="0" i="0">
                <a:solidFill>
                  <a:srgbClr val="706C64"/>
                </a:solidFill>
                <a:latin typeface="微软雅黑"/>
              </a:rPr>
              <a:t>选 4–6 个商品，自动排版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5440680"/>
            <a:ext cx="470916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41824"/>
                </a:solidFill>
                <a:latin typeface="微软雅黑"/>
              </a:rPr>
              <a:t>尺寸 / 墙地色 / 招牌 / 货架布局 / 商品位 / 道具种子 / 灯光，全部参与生成。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6053328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E07A5F"/>
                </a:solidFill>
                <a:latin typeface="微软雅黑"/>
              </a:rPr>
              <a:t>预览增量更新，只有模板/尺寸变化才重建房间。</a:t>
            </a:r>
          </a:p>
        </p:txBody>
      </p:sp>
      <p:pic>
        <p:nvPicPr>
          <p:cNvPr id="21" name="Picture 20" descr="builder_concept.png"/>
          <p:cNvPicPr>
            <a:picLocks noChangeAspect="1"/>
          </p:cNvPicPr>
          <p:nvPr/>
        </p:nvPicPr>
        <p:blipFill>
          <a:blip r:embed="rId2"/>
          <a:srcRect l="41" r="41"/>
          <a:stretch>
            <a:fillRect/>
          </a:stretch>
        </p:blipFill>
        <p:spPr>
          <a:xfrm>
            <a:off x="5577840" y="1325880"/>
            <a:ext cx="6172200" cy="34747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577840" y="4864608"/>
            <a:ext cx="61264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706C64"/>
                </a:solidFill>
                <a:latin typeface="微软雅黑"/>
              </a:rPr>
              <a:t>实机截图 · 建店器实时 3D 预览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5212080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EEE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32703" y="5230368"/>
            <a:ext cx="969264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141824"/>
                </a:solidFill>
                <a:latin typeface="微软雅黑"/>
              </a:rPr>
              <a:t>尺寸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84848" y="5212080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EEE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9712" y="5230368"/>
            <a:ext cx="969264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141824"/>
                </a:solidFill>
                <a:latin typeface="微软雅黑"/>
              </a:rPr>
              <a:t>配色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91856" y="5212080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EEE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5230368"/>
            <a:ext cx="969264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141824"/>
                </a:solidFill>
                <a:latin typeface="微软雅黑"/>
              </a:rPr>
              <a:t>布局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98863" y="5212080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EEE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53728" y="5230368"/>
            <a:ext cx="969264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141824"/>
                </a:solidFill>
                <a:latin typeface="微软雅黑"/>
              </a:rPr>
              <a:t>商品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05872" y="5212080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EEE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60736" y="5230368"/>
            <a:ext cx="969264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141824"/>
                </a:solidFill>
                <a:latin typeface="微软雅黑"/>
              </a:rPr>
              <a:t>灯光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580644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E07A5F"/>
                </a:solidFill>
                <a:latin typeface="微软雅黑"/>
              </a:rPr>
              <a:t>发布后：第 4 个门面出现在商圈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73952"/>
            <a:ext cx="8686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787878"/>
                </a:solidFill>
                <a:latin typeface="微软雅黑"/>
              </a:rPr>
              <a:t>ERP 1.7 · 元宇宙商圈 · v2 精简版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 i="0">
                <a:solidFill>
                  <a:srgbClr val="787878"/>
                </a:solidFill>
                <a:latin typeface="Georgia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D9A441"/>
                </a:solidFill>
                <a:latin typeface="Georgia"/>
              </a:rPr>
              <a:t>COMMERCE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603504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41824"/>
                </a:solidFill>
                <a:latin typeface="微软雅黑"/>
              </a:rPr>
              <a:t>交易闭环：只做必要的一条线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00784"/>
            <a:ext cx="2487168" cy="2834640"/>
          </a:xfrm>
          <a:prstGeom prst="rect">
            <a:avLst/>
          </a:prstGeom>
          <a:solidFill>
            <a:srgbClr val="E8E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45920"/>
            <a:ext cx="2487168" cy="2834640"/>
          </a:xfrm>
          <a:prstGeom prst="rect">
            <a:avLst/>
          </a:prstGeom>
          <a:solidFill>
            <a:srgbClr val="FFFFFF"/>
          </a:solidFill>
          <a:ln w="8890">
            <a:solidFill>
              <a:srgbClr val="DB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828800"/>
            <a:ext cx="365760" cy="365760"/>
          </a:xfrm>
          <a:prstGeom prst="ellipse">
            <a:avLst/>
          </a:prstGeom>
          <a:solidFill>
            <a:srgbClr val="3D7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42516"/>
            <a:ext cx="365760" cy="3383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080" b="1" i="0">
                <a:solidFill>
                  <a:srgbClr val="FFFFFF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591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41824"/>
                </a:solidFill>
                <a:latin typeface="微软雅黑"/>
              </a:rPr>
              <a:t>商品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61488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706C64"/>
                </a:solidFill>
                <a:latin typeface="微软雅黑"/>
              </a:rPr>
              <a:t>3D 画框 + HTML 详情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706C64"/>
                </a:solidFill>
                <a:latin typeface="微软雅黑"/>
              </a:rPr>
              <a:t>价格 / 库存 / 尺码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79" y="1700784"/>
            <a:ext cx="2487168" cy="2834640"/>
          </a:xfrm>
          <a:prstGeom prst="rect">
            <a:avLst/>
          </a:prstGeom>
          <a:solidFill>
            <a:srgbClr val="E8E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645920"/>
            <a:ext cx="2487168" cy="2834640"/>
          </a:xfrm>
          <a:prstGeom prst="rect">
            <a:avLst/>
          </a:prstGeom>
          <a:solidFill>
            <a:srgbClr val="FFFFFF"/>
          </a:solidFill>
          <a:ln w="8890">
            <a:solidFill>
              <a:srgbClr val="DB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20440" y="1828800"/>
            <a:ext cx="365760" cy="365760"/>
          </a:xfrm>
          <a:prstGeom prst="ellipse">
            <a:avLst/>
          </a:prstGeom>
          <a:solidFill>
            <a:srgbClr val="3D7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842516"/>
            <a:ext cx="365760" cy="3383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080" b="1" i="0">
                <a:solidFill>
                  <a:srgbClr val="FFFFFF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3591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41824"/>
                </a:solidFill>
                <a:latin typeface="微软雅黑"/>
              </a:rPr>
              <a:t>购物车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761488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706C64"/>
                </a:solidFill>
                <a:latin typeface="微软雅黑"/>
              </a:rPr>
              <a:t>访客会话购物车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706C64"/>
                </a:solidFill>
                <a:latin typeface="微软雅黑"/>
              </a:rPr>
              <a:t>数量 / 合计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700784"/>
            <a:ext cx="2487168" cy="2834640"/>
          </a:xfrm>
          <a:prstGeom prst="rect">
            <a:avLst/>
          </a:prstGeom>
          <a:solidFill>
            <a:srgbClr val="E8E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0760" y="1645920"/>
            <a:ext cx="2487168" cy="2834640"/>
          </a:xfrm>
          <a:prstGeom prst="rect">
            <a:avLst/>
          </a:prstGeom>
          <a:solidFill>
            <a:srgbClr val="FFFFFF"/>
          </a:solidFill>
          <a:ln w="8890">
            <a:solidFill>
              <a:srgbClr val="DB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0760" y="1645920"/>
            <a:ext cx="64008" cy="283464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63640" y="1828800"/>
            <a:ext cx="365760" cy="365760"/>
          </a:xfrm>
          <a:prstGeom prst="ellipse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842516"/>
            <a:ext cx="365760" cy="3383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080" b="1" i="0">
                <a:solidFill>
                  <a:srgbClr val="FFFFFF"/>
                </a:solidFill>
                <a:latin typeface="Georgia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3591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41824"/>
                </a:solidFill>
                <a:latin typeface="微软雅黑"/>
              </a:rPr>
              <a:t>优惠券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761488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706C64"/>
                </a:solidFill>
                <a:latin typeface="微软雅黑"/>
              </a:rPr>
              <a:t>券码校验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706C64"/>
                </a:solidFill>
                <a:latin typeface="微软雅黑"/>
              </a:rPr>
              <a:t>满减 / 门槛 / 上限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80" y="1700784"/>
            <a:ext cx="2487168" cy="2834640"/>
          </a:xfrm>
          <a:prstGeom prst="rect">
            <a:avLst/>
          </a:prstGeom>
          <a:solidFill>
            <a:srgbClr val="E8E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23960" y="1645920"/>
            <a:ext cx="2487168" cy="2834640"/>
          </a:xfrm>
          <a:prstGeom prst="rect">
            <a:avLst/>
          </a:prstGeom>
          <a:solidFill>
            <a:srgbClr val="FFFFFF"/>
          </a:solidFill>
          <a:ln w="8890">
            <a:solidFill>
              <a:srgbClr val="DB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3960" y="1645920"/>
            <a:ext cx="64008" cy="283464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006840" y="1828800"/>
            <a:ext cx="365760" cy="365760"/>
          </a:xfrm>
          <a:prstGeom prst="ellipse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1842516"/>
            <a:ext cx="365760" cy="3383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080" b="1" i="0">
                <a:solidFill>
                  <a:srgbClr val="FFFFFF"/>
                </a:solidFill>
                <a:latin typeface="Georgia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23591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41824"/>
                </a:solidFill>
                <a:latin typeface="微软雅黑"/>
              </a:rPr>
              <a:t>下单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2761488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706C64"/>
                </a:solidFill>
                <a:latin typeface="微软雅黑"/>
              </a:rPr>
              <a:t>模拟支付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706C64"/>
                </a:solidFill>
                <a:latin typeface="微软雅黑"/>
              </a:rPr>
              <a:t>库存扣减 / 券核销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4846320"/>
            <a:ext cx="6675120" cy="1143000"/>
          </a:xfrm>
          <a:prstGeom prst="rect">
            <a:avLst/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010912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D9A441"/>
                </a:solidFill>
                <a:latin typeface="Georgia"/>
              </a:rPr>
              <a:t>ORDER #A7F3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28523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4EFE7"/>
                </a:solidFill>
                <a:latin typeface="微软雅黑"/>
              </a:rPr>
              <a:t>亚麻衬衫 ×1   ¥299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55955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E6BEA0"/>
                </a:solidFill>
                <a:latin typeface="微软雅黑"/>
              </a:rPr>
              <a:t>优惠券 -¥30  实付 ¥269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5285232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4EFE7"/>
                </a:solidFill>
                <a:latin typeface="微软雅黑"/>
              </a:rPr>
              <a:t>库存 -1 · 券已核销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489204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706C64"/>
                </a:solidFill>
                <a:latin typeface="微软雅黑"/>
              </a:rPr>
              <a:t>不做用户体系 / 钱包 / 真实支付；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706C64"/>
                </a:solidFill>
                <a:latin typeface="微软雅黑"/>
              </a:rPr>
              <a:t>用幂等键 + 条件更新保证不重复下单。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73952"/>
            <a:ext cx="8686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787878"/>
                </a:solidFill>
                <a:latin typeface="微软雅黑"/>
              </a:rPr>
              <a:t>ERP 1.7 · 元宇宙商圈 · v2 精简版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 i="0">
                <a:solidFill>
                  <a:srgbClr val="787878"/>
                </a:solidFill>
                <a:latin typeface="Georgia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D9A441"/>
                </a:solidFill>
                <a:latin typeface="Georgia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603504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41824"/>
                </a:solidFill>
                <a:latin typeface="微软雅黑"/>
              </a:rPr>
              <a:t>一个 Django 进程 + 原生 Three.js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4937760" cy="1051560"/>
          </a:xfrm>
          <a:prstGeom prst="rect">
            <a:avLst/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D9A441"/>
                </a:solidFill>
                <a:latin typeface="Georgia"/>
              </a:rPr>
              <a:t>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4EFE7"/>
                </a:solidFill>
                <a:latin typeface="微软雅黑"/>
              </a:rPr>
              <a:t>Django 模板 + Three.js ES Modules</a:t>
            </a:r>
          </a:p>
        </p:txBody>
      </p:sp>
      <p:sp>
        <p:nvSpPr>
          <p:cNvPr id="9" name="Down Arrow 8"/>
          <p:cNvSpPr/>
          <p:nvPr/>
        </p:nvSpPr>
        <p:spPr>
          <a:xfrm>
            <a:off x="2852928" y="2660904"/>
            <a:ext cx="347472" cy="347472"/>
          </a:xfrm>
          <a:prstGeom prst="downArrow">
            <a:avLst/>
          </a:prstGeom>
          <a:solidFill>
            <a:srgbClr val="968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063240"/>
            <a:ext cx="4937760" cy="1051560"/>
          </a:xfrm>
          <a:prstGeom prst="rect">
            <a:avLst/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2783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D9A441"/>
                </a:solidFill>
                <a:latin typeface="Georgia"/>
              </a:rPr>
              <a:t>SERVER 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4EFE7"/>
                </a:solidFill>
                <a:latin typeface="微软雅黑"/>
              </a:rPr>
              <a:t>gunicorn + Django 5.2 + WhiteNoise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852928" y="4123944"/>
            <a:ext cx="347472" cy="347472"/>
          </a:xfrm>
          <a:prstGeom prst="downArrow">
            <a:avLst/>
          </a:prstGeom>
          <a:solidFill>
            <a:srgbClr val="968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526280"/>
            <a:ext cx="4937760" cy="1051560"/>
          </a:xfrm>
          <a:prstGeom prst="rect">
            <a:avLst/>
          </a:prstGeom>
          <a:solidFill>
            <a:srgbClr val="3D7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9087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FFFFFF"/>
                </a:solidFill>
                <a:latin typeface="Georgia"/>
              </a:rPr>
              <a:t>SQLite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83480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微软雅黑"/>
              </a:rPr>
              <a:t>db.sqlite3 + media / static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0644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706C64"/>
                </a:solidFill>
                <a:latin typeface="微软雅黑"/>
              </a:rPr>
              <a:t>HTTP :3000 · 校园网 / VPN / SSH 隧道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1563624"/>
            <a:ext cx="5257800" cy="1188720"/>
          </a:xfrm>
          <a:prstGeom prst="rect">
            <a:avLst/>
          </a:prstGeom>
          <a:solidFill>
            <a:srgbClr val="E8E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508760"/>
            <a:ext cx="5257800" cy="1188720"/>
          </a:xfrm>
          <a:prstGeom prst="rect">
            <a:avLst/>
          </a:prstGeom>
          <a:solidFill>
            <a:srgbClr val="FFFFFF"/>
          </a:solidFill>
          <a:ln w="8890">
            <a:solidFill>
              <a:srgbClr val="DB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508760"/>
            <a:ext cx="64008" cy="1188720"/>
          </a:xfrm>
          <a:prstGeom prst="rect">
            <a:avLst/>
          </a:prstGeom>
          <a:solidFill>
            <a:srgbClr val="3D7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655063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D9A441"/>
                </a:solidFill>
                <a:latin typeface="Georgia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1645919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41824"/>
                </a:solidFill>
                <a:latin typeface="微软雅黑"/>
              </a:rPr>
              <a:t>无 Node 构建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1965960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19" b="0" i="0">
                <a:solidFill>
                  <a:srgbClr val="706C64"/>
                </a:solidFill>
                <a:latin typeface="微软雅黑"/>
              </a:rPr>
              <a:t>Three.js 用 import map 直接加载；没有 Vite/React/打包步骤。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59" y="2980944"/>
            <a:ext cx="5257800" cy="1188720"/>
          </a:xfrm>
          <a:prstGeom prst="rect">
            <a:avLst/>
          </a:prstGeom>
          <a:solidFill>
            <a:srgbClr val="E8E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2926080"/>
            <a:ext cx="5257800" cy="1188720"/>
          </a:xfrm>
          <a:prstGeom prst="rect">
            <a:avLst/>
          </a:prstGeom>
          <a:solidFill>
            <a:srgbClr val="FFFFFF"/>
          </a:solidFill>
          <a:ln w="8890">
            <a:solidFill>
              <a:srgbClr val="DB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2926080"/>
            <a:ext cx="64008" cy="1188720"/>
          </a:xfrm>
          <a:prstGeom prst="rect">
            <a:avLst/>
          </a:prstGeom>
          <a:solidFill>
            <a:srgbClr val="3D7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07238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D9A441"/>
                </a:solidFill>
                <a:latin typeface="Georgia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063240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41824"/>
                </a:solidFill>
                <a:latin typeface="微软雅黑"/>
              </a:rPr>
              <a:t>一个进程一个端口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3383280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19" b="0" i="0">
                <a:solidFill>
                  <a:srgbClr val="706C64"/>
                </a:solidFill>
                <a:latin typeface="微软雅黑"/>
              </a:rPr>
              <a:t>Django 同时提供页面、JSON、Admin；部署只盯 3000。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59" y="4398264"/>
            <a:ext cx="5257800" cy="1188720"/>
          </a:xfrm>
          <a:prstGeom prst="rect">
            <a:avLst/>
          </a:prstGeom>
          <a:solidFill>
            <a:srgbClr val="E8E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4343400"/>
            <a:ext cx="5257800" cy="1188720"/>
          </a:xfrm>
          <a:prstGeom prst="rect">
            <a:avLst/>
          </a:prstGeom>
          <a:solidFill>
            <a:srgbClr val="FFFFFF"/>
          </a:solidFill>
          <a:ln w="8890">
            <a:solidFill>
              <a:srgbClr val="DB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4343400"/>
            <a:ext cx="64008" cy="1188720"/>
          </a:xfrm>
          <a:prstGeom prst="rect">
            <a:avLst/>
          </a:prstGeom>
          <a:solidFill>
            <a:srgbClr val="3D7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48970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D9A441"/>
                </a:solidFill>
                <a:latin typeface="Georgia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4480560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41824"/>
                </a:solidFill>
                <a:latin typeface="微软雅黑"/>
              </a:rPr>
              <a:t>用户级部署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4800600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19" b="0" i="0">
                <a:solidFill>
                  <a:srgbClr val="706C64"/>
                </a:solidFill>
                <a:latin typeface="微软雅黑"/>
              </a:rPr>
              <a:t>venv + gunicorn + tmux；不改共享服务器配置。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73952"/>
            <a:ext cx="8686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787878"/>
                </a:solidFill>
                <a:latin typeface="微软雅黑"/>
              </a:rPr>
              <a:t>ERP 1.7 · 元宇宙商圈 · v2 精简版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 i="0">
                <a:solidFill>
                  <a:srgbClr val="787878"/>
                </a:solidFill>
                <a:latin typeface="Georgia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D9A441"/>
                </a:solidFill>
                <a:latin typeface="Georgia"/>
              </a:rPr>
              <a:t>NOT A TOY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603504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41824"/>
                </a:solidFill>
                <a:latin typeface="微软雅黑"/>
              </a:rPr>
              <a:t>三个工程关键点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63624"/>
            <a:ext cx="3493008" cy="4023360"/>
          </a:xfrm>
          <a:prstGeom prst="rect">
            <a:avLst/>
          </a:prstGeom>
          <a:solidFill>
            <a:srgbClr val="E8E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3493008" cy="4023360"/>
          </a:xfrm>
          <a:prstGeom prst="rect">
            <a:avLst/>
          </a:prstGeom>
          <a:solidFill>
            <a:srgbClr val="FFFFFF"/>
          </a:solidFill>
          <a:ln w="8890">
            <a:solidFill>
              <a:srgbClr val="DB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508760"/>
            <a:ext cx="64008" cy="4023360"/>
          </a:xfrm>
          <a:prstGeom prst="rect">
            <a:avLst/>
          </a:prstGeom>
          <a:solidFill>
            <a:srgbClr val="3D7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1907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D9A441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93392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41824"/>
                </a:solidFill>
                <a:latin typeface="微软雅黑"/>
              </a:rPr>
              <a:t>配置驱动生成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87168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80" b="0" i="0">
                <a:solidFill>
                  <a:srgbClr val="706C64"/>
                </a:solidFill>
                <a:latin typeface="微软雅黑"/>
              </a:rPr>
              <a:t>同一个 buildStore(config)</a:t>
            </a:r>
          </a:p>
          <a:p>
            <a:pPr algn="l">
              <a:lnSpc>
                <a:spcPct val="135000"/>
              </a:lnSpc>
            </a:pPr>
            <a:r>
              <a:rPr sz="1080" b="0" i="0">
                <a:solidFill>
                  <a:srgbClr val="706C64"/>
                </a:solidFill>
                <a:latin typeface="微软雅黑"/>
              </a:rPr>
              <a:t>读取尺寸 / 配色 / 布局 / 商品 /</a:t>
            </a:r>
          </a:p>
          <a:p>
            <a:pPr algn="l">
              <a:lnSpc>
                <a:spcPct val="135000"/>
              </a:lnSpc>
            </a:pPr>
            <a:r>
              <a:rPr sz="1080" b="0" i="0">
                <a:solidFill>
                  <a:srgbClr val="706C64"/>
                </a:solidFill>
                <a:latin typeface="微软雅黑"/>
              </a:rPr>
              <a:t>灯光 / 道具种子。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657600"/>
            <a:ext cx="3017520" cy="841248"/>
          </a:xfrm>
          <a:prstGeom prst="rect">
            <a:avLst/>
          </a:prstGeom>
          <a:solidFill>
            <a:srgbClr val="EEE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776472"/>
            <a:ext cx="2743200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4B4842"/>
                </a:solidFill>
                <a:latin typeface="Consolas"/>
              </a:rPr>
              <a:t>config = { palette, layout,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4B4842"/>
                </a:solidFill>
                <a:latin typeface="Consolas"/>
              </a:rPr>
              <a:t>  products, seed 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4632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EEE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4864607"/>
            <a:ext cx="2359152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3D7068"/>
                </a:solidFill>
                <a:latin typeface="微软雅黑"/>
              </a:rPr>
              <a:t>真差异化，不是换模板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52544" y="1563624"/>
            <a:ext cx="3493008" cy="4023360"/>
          </a:xfrm>
          <a:prstGeom prst="rect">
            <a:avLst/>
          </a:prstGeom>
          <a:solidFill>
            <a:srgbClr val="E8E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06824" y="1508760"/>
            <a:ext cx="3493008" cy="4023360"/>
          </a:xfrm>
          <a:prstGeom prst="rect">
            <a:avLst/>
          </a:prstGeom>
          <a:solidFill>
            <a:srgbClr val="FFFFFF"/>
          </a:solidFill>
          <a:ln w="8890">
            <a:solidFill>
              <a:srgbClr val="DB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6824" y="1508760"/>
            <a:ext cx="64008" cy="402336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5424" y="171907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D9A441"/>
                </a:solidFill>
                <a:latin typeface="Georgia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1993392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41824"/>
                </a:solidFill>
                <a:latin typeface="微软雅黑"/>
              </a:rPr>
              <a:t>SQLite 事务 + 幂等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4" y="2487168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80" b="0" i="0">
                <a:solidFill>
                  <a:srgbClr val="706C64"/>
                </a:solidFill>
                <a:latin typeface="微软雅黑"/>
              </a:rPr>
              <a:t>条件 UPDATE + 行数检查；</a:t>
            </a:r>
          </a:p>
          <a:p>
            <a:pPr algn="l">
              <a:lnSpc>
                <a:spcPct val="135000"/>
              </a:lnSpc>
            </a:pPr>
            <a:r>
              <a:rPr sz="1080" b="0" i="0">
                <a:solidFill>
                  <a:srgbClr val="706C64"/>
                </a:solidFill>
                <a:latin typeface="微软雅黑"/>
              </a:rPr>
              <a:t>client_token 唯一；</a:t>
            </a:r>
          </a:p>
          <a:p>
            <a:pPr algn="l">
              <a:lnSpc>
                <a:spcPct val="135000"/>
              </a:lnSpc>
            </a:pPr>
            <a:r>
              <a:rPr sz="1080" b="0" i="0">
                <a:solidFill>
                  <a:srgbClr val="706C64"/>
                </a:solidFill>
                <a:latin typeface="微软雅黑"/>
              </a:rPr>
              <a:t>券 used_count 条件更新。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35424" y="3657600"/>
            <a:ext cx="3017520" cy="841248"/>
          </a:xfrm>
          <a:prstGeom prst="rect">
            <a:avLst/>
          </a:prstGeom>
          <a:solidFill>
            <a:srgbClr val="EEE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72584" y="3776472"/>
            <a:ext cx="2743200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4B4842"/>
                </a:solidFill>
                <a:latin typeface="Consolas"/>
              </a:rPr>
              <a:t>UPDATE ... WHERE stock &gt;= qty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4B4842"/>
                </a:solidFill>
                <a:latin typeface="Consolas"/>
              </a:rPr>
              <a:t>+ client_token UNIQUE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35424" y="484632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EEE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0288" y="4864607"/>
            <a:ext cx="2359152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E07A5F"/>
                </a:solidFill>
                <a:latin typeface="微软雅黑"/>
              </a:rPr>
              <a:t>不超卖、不重复下单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65008" y="1563624"/>
            <a:ext cx="3493008" cy="4023360"/>
          </a:xfrm>
          <a:prstGeom prst="rect">
            <a:avLst/>
          </a:prstGeom>
          <a:solidFill>
            <a:srgbClr val="E8E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19288" y="1508760"/>
            <a:ext cx="3493008" cy="4023360"/>
          </a:xfrm>
          <a:prstGeom prst="rect">
            <a:avLst/>
          </a:prstGeom>
          <a:solidFill>
            <a:srgbClr val="FFFFFF"/>
          </a:solidFill>
          <a:ln w="8890">
            <a:solidFill>
              <a:srgbClr val="DB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19288" y="1508760"/>
            <a:ext cx="64008" cy="4023360"/>
          </a:xfrm>
          <a:prstGeom prst="rect">
            <a:avLst/>
          </a:prstGeom>
          <a:solidFill>
            <a:srgbClr val="3D7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171907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D9A441"/>
                </a:solidFill>
                <a:latin typeface="Georgia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1993392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41824"/>
                </a:solidFill>
                <a:latin typeface="微软雅黑"/>
              </a:rPr>
              <a:t>增量预览 + 释放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2487168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80" b="0" i="0">
                <a:solidFill>
                  <a:srgbClr val="706C64"/>
                </a:solidFill>
                <a:latin typeface="微软雅黑"/>
              </a:rPr>
              <a:t>改色/改名/换商品只更新材质</a:t>
            </a:r>
          </a:p>
          <a:p>
            <a:pPr algn="l">
              <a:lnSpc>
                <a:spcPct val="135000"/>
              </a:lnSpc>
            </a:pPr>
            <a:r>
              <a:rPr sz="1080" b="0" i="0">
                <a:solidFill>
                  <a:srgbClr val="706C64"/>
                </a:solidFill>
                <a:latin typeface="微软雅黑"/>
              </a:rPr>
              <a:t>和贴图；模板变化才重建房间；</a:t>
            </a:r>
          </a:p>
          <a:p>
            <a:pPr algn="l">
              <a:lnSpc>
                <a:spcPct val="135000"/>
              </a:lnSpc>
            </a:pPr>
            <a:r>
              <a:rPr sz="1080" b="0" i="0">
                <a:solidFill>
                  <a:srgbClr val="706C64"/>
                </a:solidFill>
                <a:latin typeface="微软雅黑"/>
              </a:rPr>
              <a:t>dispose 旧几何/纹理。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47888" y="3657600"/>
            <a:ext cx="3017520" cy="841248"/>
          </a:xfrm>
          <a:prstGeom prst="rect">
            <a:avLst/>
          </a:prstGeom>
          <a:solidFill>
            <a:srgbClr val="EEE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8" y="3776472"/>
            <a:ext cx="2743200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4B4842"/>
                </a:solidFill>
                <a:latin typeface="Consolas"/>
              </a:rPr>
              <a:t>disposeGeometry()</a:t>
            </a:r>
          </a:p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4B4842"/>
                </a:solidFill>
                <a:latin typeface="Consolas"/>
              </a:rPr>
              <a:t>disposeTexture()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47888" y="484632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EEE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2752" y="4864607"/>
            <a:ext cx="2359152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3D7068"/>
                </a:solidFill>
                <a:latin typeface="微软雅黑"/>
              </a:rPr>
              <a:t>不卡顿、不爆内存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8064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41824"/>
                </a:solidFill>
                <a:latin typeface="微软雅黑"/>
              </a:rPr>
              <a:t>答辩时讲这三个点，比“我们做了很多页面”更能说明工程能力。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73952"/>
            <a:ext cx="8686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787878"/>
                </a:solidFill>
                <a:latin typeface="微软雅黑"/>
              </a:rPr>
              <a:t>ERP 1.7 · 元宇宙商圈 · v2 精简版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 i="0">
                <a:solidFill>
                  <a:srgbClr val="787878"/>
                </a:solidFill>
                <a:latin typeface="Georgia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D9A441"/>
                </a:solidFill>
                <a:latin typeface="Georgia"/>
              </a:rPr>
              <a:t>MEASURED, NOT GUESSED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603504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300" b="1" i="0">
                <a:solidFill>
                  <a:srgbClr val="141824"/>
                </a:solidFill>
                <a:latin typeface="微软雅黑"/>
              </a:rPr>
              <a:t>性能：先把店铺跑顺，再谈商圈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72184"/>
            <a:ext cx="3493008" cy="1627632"/>
          </a:xfrm>
          <a:prstGeom prst="rect">
            <a:avLst/>
          </a:prstGeom>
          <a:solidFill>
            <a:srgbClr val="E8E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3493008" cy="1627632"/>
          </a:xfrm>
          <a:prstGeom prst="rect">
            <a:avLst/>
          </a:prstGeom>
          <a:solidFill>
            <a:srgbClr val="FFFFFF"/>
          </a:solidFill>
          <a:ln w="8890">
            <a:solidFill>
              <a:srgbClr val="DB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64008" cy="1627632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72768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41824"/>
                </a:solidFill>
                <a:latin typeface="Georgia"/>
              </a:rPr>
              <a:t>55.8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E07A5F"/>
                </a:solidFill>
                <a:latin typeface="微软雅黑"/>
              </a:rPr>
              <a:t>FPS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706C64"/>
                </a:solidFill>
                <a:latin typeface="微软雅黑"/>
              </a:rPr>
              <a:t>Iris Xe · 1920×1080 · pixelRatio 1.5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2544" y="1472184"/>
            <a:ext cx="3493008" cy="1627632"/>
          </a:xfrm>
          <a:prstGeom prst="rect">
            <a:avLst/>
          </a:prstGeom>
          <a:solidFill>
            <a:srgbClr val="E8E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6824" y="1417320"/>
            <a:ext cx="3493008" cy="1627632"/>
          </a:xfrm>
          <a:prstGeom prst="rect">
            <a:avLst/>
          </a:prstGeom>
          <a:solidFill>
            <a:srgbClr val="FFFFFF"/>
          </a:solidFill>
          <a:ln w="8890">
            <a:solidFill>
              <a:srgbClr val="DB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572768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41824"/>
                </a:solidFill>
                <a:latin typeface="Georgia"/>
              </a:rPr>
              <a:t>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17627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E07A5F"/>
                </a:solidFill>
                <a:latin typeface="微软雅黑"/>
              </a:rPr>
              <a:t>draw calls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46888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706C64"/>
                </a:solidFill>
                <a:latin typeface="微软雅黑"/>
              </a:rPr>
              <a:t>20 商品画框 + 货架 + instanced 衣架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5008" y="1472184"/>
            <a:ext cx="3493008" cy="1627632"/>
          </a:xfrm>
          <a:prstGeom prst="rect">
            <a:avLst/>
          </a:prstGeom>
          <a:solidFill>
            <a:srgbClr val="E8E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9288" y="1417320"/>
            <a:ext cx="3493008" cy="1627632"/>
          </a:xfrm>
          <a:prstGeom prst="rect">
            <a:avLst/>
          </a:prstGeom>
          <a:solidFill>
            <a:srgbClr val="FFFFFF"/>
          </a:solidFill>
          <a:ln w="8890">
            <a:solidFill>
              <a:srgbClr val="DB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572768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41824"/>
                </a:solidFill>
                <a:latin typeface="Georgia"/>
              </a:rPr>
              <a:t>2,616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17627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E07A5F"/>
                </a:solidFill>
                <a:latin typeface="微软雅黑"/>
              </a:rPr>
              <a:t>triangles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46888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706C64"/>
                </a:solidFill>
                <a:latin typeface="微软雅黑"/>
              </a:rPr>
              <a:t>低模店铺式场景，带 1024 阴影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42900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41824"/>
                </a:solidFill>
                <a:latin typeface="微软雅黑"/>
              </a:rPr>
              <a:t>FPS：目标 45 / 实测 55.8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3794760"/>
            <a:ext cx="5577840" cy="237744"/>
          </a:xfrm>
          <a:prstGeom prst="rect">
            <a:avLst/>
          </a:prstGeom>
          <a:solidFill>
            <a:srgbClr val="E2DB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3794760"/>
            <a:ext cx="4183380" cy="237744"/>
          </a:xfrm>
          <a:prstGeom prst="rect">
            <a:avLst/>
          </a:prstGeom>
          <a:solidFill>
            <a:srgbClr val="A09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4224528"/>
            <a:ext cx="5577840" cy="237744"/>
          </a:xfrm>
          <a:prstGeom prst="rect">
            <a:avLst/>
          </a:prstGeom>
          <a:solidFill>
            <a:srgbClr val="E2DB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224528"/>
            <a:ext cx="5187391" cy="237744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88620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FFFFFF"/>
                </a:solidFill>
                <a:latin typeface="Georgia"/>
              </a:rPr>
              <a:t>45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3159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FFFFFF"/>
                </a:solidFill>
                <a:latin typeface="Georgia"/>
              </a:rPr>
              <a:t>55.8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3520440"/>
            <a:ext cx="5074920" cy="2103120"/>
          </a:xfrm>
          <a:prstGeom prst="rect">
            <a:avLst/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3675887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D9A441"/>
                </a:solidFill>
                <a:latin typeface="Georgia"/>
              </a:rPr>
              <a:t>CAVEAT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3950208"/>
            <a:ext cx="4572000" cy="1508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19" b="0" i="0">
                <a:solidFill>
                  <a:srgbClr val="F4EFE7"/>
                </a:solidFill>
                <a:latin typeface="微软雅黑"/>
              </a:rPr>
              <a:t>这是“店铺式场景”的实测，不是完整商圈。</a:t>
            </a:r>
          </a:p>
          <a:p>
            <a:pPr algn="l">
              <a:lnSpc>
                <a:spcPct val="135000"/>
              </a:lnSpc>
            </a:pPr>
            <a:r>
              <a:rPr sz="1019" b="0" i="0">
                <a:solidFill>
                  <a:srgbClr val="F4EFE7"/>
                </a:solidFill>
                <a:latin typeface="微软雅黑"/>
              </a:rPr>
              <a:t>完整商圈 + 3 家店 + glTF 道具，仍需 1 天尖峰。</a:t>
            </a:r>
          </a:p>
          <a:p>
            <a:pPr algn="l">
              <a:lnSpc>
                <a:spcPct val="135000"/>
              </a:lnSpc>
            </a:pPr>
            <a:r>
              <a:rPr sz="1019" b="0" i="0">
                <a:solidFill>
                  <a:srgbClr val="F4EFE7"/>
                </a:solidFill>
                <a:latin typeface="微软雅黑"/>
              </a:rPr>
              <a:t>服务器 3000 入站未验证；部署后测，否则 SSH 隧道。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8978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E07A5F"/>
                </a:solidFill>
                <a:latin typeface="微软雅黑"/>
              </a:rPr>
              <a:t>下一步：完整商圈 FPS ≥30、draw calls &lt;100、10 次切换不泄漏。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73952"/>
            <a:ext cx="8686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787878"/>
                </a:solidFill>
                <a:latin typeface="微软雅黑"/>
              </a:rPr>
              <a:t>ERP 1.7 · 元宇宙商圈 · v2 精简版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 i="0">
                <a:solidFill>
                  <a:srgbClr val="787878"/>
                </a:solidFill>
                <a:latin typeface="Georgia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D9A441"/>
                </a:solidFill>
                <a:latin typeface="Georgia"/>
              </a:rPr>
              <a:t>SCOPE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603504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41824"/>
                </a:solidFill>
                <a:latin typeface="微软雅黑"/>
              </a:rPr>
              <a:t>砍掉 2/3，是为了把核心做完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5303520" cy="3246120"/>
          </a:xfrm>
          <a:prstGeom prst="rect">
            <a:avLst/>
          </a:prstGeom>
          <a:solidFill>
            <a:srgbClr val="EBE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706C64"/>
                </a:solidFill>
                <a:latin typeface="微软雅黑"/>
              </a:rPr>
              <a:t>v1 想做的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93392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6E685E"/>
                </a:solidFill>
                <a:latin typeface="Georgia"/>
              </a:rPr>
              <a:t>34–43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26771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6E685E"/>
                </a:solidFill>
                <a:latin typeface="微软雅黑"/>
              </a:rPr>
              <a:t>人天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4572000" cy="155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85E"/>
                </a:solidFill>
                <a:latin typeface="微软雅黑"/>
              </a:rPr>
              <a:t>6 门面 / 3 模板 / NPC / 导览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85E"/>
                </a:solidFill>
                <a:latin typeface="微软雅黑"/>
              </a:rPr>
              <a:t>2D 店铺页 / 顾客账号 / 券钱包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E685E"/>
                </a:solidFill>
                <a:latin typeface="微软雅黑"/>
              </a:rPr>
              <a:t>商家 Admin / 统计大屏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5349240" cy="3246120"/>
          </a:xfrm>
          <a:prstGeom prst="rect">
            <a:avLst/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91640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D9A441"/>
                </a:solidFill>
                <a:latin typeface="微软雅黑"/>
              </a:rPr>
              <a:t>v2 保留的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93392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4EFE7"/>
                </a:solidFill>
                <a:latin typeface="Georgia"/>
              </a:rPr>
              <a:t>10–14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26771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4EFE7"/>
                </a:solidFill>
                <a:latin typeface="微软雅黑"/>
              </a:rPr>
              <a:t>人天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880360"/>
            <a:ext cx="4572000" cy="155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F4EFE7"/>
                </a:solidFill>
                <a:latin typeface="微软雅黑"/>
              </a:rPr>
              <a:t>3 个完整店铺 + 第 4 家现场生成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F4EFE7"/>
                </a:solidFill>
                <a:latin typeface="微软雅黑"/>
              </a:rPr>
              <a:t>2 模板 + 配置变体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F4EFE7"/>
                </a:solidFill>
                <a:latin typeface="微软雅黑"/>
              </a:rPr>
              <a:t>访客下单 + 券码 + 平台 Admin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074920"/>
            <a:ext cx="110185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230368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41824"/>
                </a:solidFill>
                <a:latin typeface="微软雅黑"/>
              </a:rPr>
              <a:t>两人 4 周 × 8–10 小时 = 8–10 人天；v2 仍需第 5 周缓冲，或每周 12–15 小时。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978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E07A5F"/>
                </a:solidFill>
                <a:latin typeface="微软雅黑"/>
              </a:rPr>
              <a:t>保核心：3 店、真生成、下单、券；砍氛围和后台。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73952"/>
            <a:ext cx="8686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787878"/>
                </a:solidFill>
                <a:latin typeface="微软雅黑"/>
              </a:rPr>
              <a:t>ERP 1.7 · 元宇宙商圈 · v2 精简版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 i="0">
                <a:solidFill>
                  <a:srgbClr val="787878"/>
                </a:solidFill>
                <a:latin typeface="Georgia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D9A441"/>
                </a:solidFill>
                <a:latin typeface="Georgia"/>
              </a:rPr>
              <a:t>TEAM &amp;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603504"/>
            <a:ext cx="11064240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41824"/>
                </a:solidFill>
                <a:latin typeface="微软雅黑"/>
              </a:rPr>
              <a:t>两人分工 + 4+1 周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9344"/>
            <a:ext cx="4846320" cy="1691640"/>
          </a:xfrm>
          <a:prstGeom prst="rect">
            <a:avLst/>
          </a:prstGeom>
          <a:solidFill>
            <a:srgbClr val="E8E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54480"/>
            <a:ext cx="4846320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B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554480"/>
            <a:ext cx="64008" cy="1691640"/>
          </a:xfrm>
          <a:prstGeom prst="rect">
            <a:avLst/>
          </a:prstGeom>
          <a:solidFill>
            <a:srgbClr val="3D7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3D7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96795"/>
            <a:ext cx="457200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Georgia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7373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41824"/>
                </a:solidFill>
                <a:latin typeface="微软雅黑"/>
              </a:rPr>
              <a:t>数据 / 事务 / 部署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48840"/>
            <a:ext cx="3749039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80" b="0" i="0">
                <a:solidFill>
                  <a:srgbClr val="706C64"/>
                </a:solidFill>
                <a:latin typeface="微软雅黑"/>
              </a:rPr>
              <a:t>模型 / Admin / 订单 / 库存 / 券</a:t>
            </a:r>
          </a:p>
          <a:p>
            <a:pPr algn="l">
              <a:lnSpc>
                <a:spcPct val="135000"/>
              </a:lnSpc>
            </a:pPr>
            <a:r>
              <a:rPr sz="1080" b="0" i="0">
                <a:solidFill>
                  <a:srgbClr val="706C64"/>
                </a:solidFill>
                <a:latin typeface="微软雅黑"/>
              </a:rPr>
              <a:t>幂等与并发测试 / seed / 部署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21024"/>
            <a:ext cx="4846320" cy="1691640"/>
          </a:xfrm>
          <a:prstGeom prst="rect">
            <a:avLst/>
          </a:prstGeom>
          <a:solidFill>
            <a:srgbClr val="E8E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3566160"/>
            <a:ext cx="4846320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B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566160"/>
            <a:ext cx="64008" cy="169164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3794760"/>
            <a:ext cx="457200" cy="457200"/>
          </a:xfrm>
          <a:prstGeom prst="ellipse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08476"/>
            <a:ext cx="457200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Georgia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74904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41824"/>
                </a:solidFill>
                <a:latin typeface="微软雅黑"/>
              </a:rPr>
              <a:t>3D / 建站器 / 演示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160520"/>
            <a:ext cx="3749039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80" b="0" i="0">
                <a:solidFill>
                  <a:srgbClr val="706C64"/>
                </a:solidFill>
                <a:latin typeface="微软雅黑"/>
              </a:rPr>
              <a:t>引擎 / 商圈 / 店铺生成 / 增量预览</a:t>
            </a:r>
          </a:p>
          <a:p>
            <a:pPr algn="l">
              <a:lnSpc>
                <a:spcPct val="135000"/>
              </a:lnSpc>
            </a:pPr>
            <a:r>
              <a:rPr sz="1080" b="0" i="0">
                <a:solidFill>
                  <a:srgbClr val="706C64"/>
                </a:solidFill>
                <a:latin typeface="微软雅黑"/>
              </a:rPr>
              <a:t>UI / 性能 / 截图 / 视频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155448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41824"/>
                </a:solidFill>
                <a:latin typeface="微软雅黑"/>
              </a:rPr>
              <a:t>4 + 1 周</a:t>
            </a:r>
          </a:p>
        </p:txBody>
      </p:sp>
      <p:sp>
        <p:nvSpPr>
          <p:cNvPr id="21" name="Oval 20"/>
          <p:cNvSpPr/>
          <p:nvPr/>
        </p:nvSpPr>
        <p:spPr>
          <a:xfrm>
            <a:off x="6035040" y="1965960"/>
            <a:ext cx="310896" cy="310896"/>
          </a:xfrm>
          <a:prstGeom prst="ellipse">
            <a:avLst/>
          </a:prstGeom>
          <a:solidFill>
            <a:srgbClr val="3D7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61888" y="235915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141824"/>
                </a:solidFill>
                <a:latin typeface="Georgia"/>
              </a:rPr>
              <a:t>W1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2651760"/>
            <a:ext cx="8686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706C64"/>
                </a:solidFill>
                <a:latin typeface="微软雅黑"/>
              </a:rPr>
              <a:t>骨架 + 店铺壳</a:t>
            </a:r>
          </a:p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706C64"/>
                </a:solidFill>
                <a:latin typeface="微软雅黑"/>
              </a:rPr>
              <a:t>FPS 基准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64224" y="2112264"/>
            <a:ext cx="713232" cy="18288"/>
          </a:xfrm>
          <a:prstGeom prst="rect">
            <a:avLst/>
          </a:prstGeom>
          <a:solidFill>
            <a:srgbClr val="DB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114031" y="1965960"/>
            <a:ext cx="310896" cy="310896"/>
          </a:xfrm>
          <a:prstGeom prst="ellipse">
            <a:avLst/>
          </a:prstGeom>
          <a:solidFill>
            <a:srgbClr val="3D7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79" y="235915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141824"/>
                </a:solidFill>
                <a:latin typeface="Georgia"/>
              </a:rPr>
              <a:t>W2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85431" y="2651760"/>
            <a:ext cx="8686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706C64"/>
                </a:solidFill>
                <a:latin typeface="微软雅黑"/>
              </a:rPr>
              <a:t>3 店 + 商圈</a:t>
            </a:r>
          </a:p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706C64"/>
                </a:solidFill>
                <a:latin typeface="微软雅黑"/>
              </a:rPr>
              <a:t>商品详情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43215" y="2112264"/>
            <a:ext cx="713232" cy="18288"/>
          </a:xfrm>
          <a:prstGeom prst="rect">
            <a:avLst/>
          </a:prstGeom>
          <a:solidFill>
            <a:srgbClr val="DB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93023" y="1965960"/>
            <a:ext cx="310896" cy="310896"/>
          </a:xfrm>
          <a:prstGeom prst="ellipse">
            <a:avLst/>
          </a:prstGeom>
          <a:solidFill>
            <a:srgbClr val="3D7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9871" y="235915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141824"/>
                </a:solidFill>
                <a:latin typeface="Georgia"/>
              </a:rPr>
              <a:t>W3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64423" y="2651760"/>
            <a:ext cx="8686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706C64"/>
                </a:solidFill>
                <a:latin typeface="微软雅黑"/>
              </a:rPr>
              <a:t>建站器 + 订单</a:t>
            </a:r>
          </a:p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706C64"/>
                </a:solidFill>
                <a:latin typeface="微软雅黑"/>
              </a:rPr>
              <a:t>券 + 第 4 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22207" y="2112264"/>
            <a:ext cx="713232" cy="18288"/>
          </a:xfrm>
          <a:prstGeom prst="rect">
            <a:avLst/>
          </a:prstGeom>
          <a:solidFill>
            <a:srgbClr val="DB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272016" y="1965960"/>
            <a:ext cx="310896" cy="310896"/>
          </a:xfrm>
          <a:prstGeom prst="ellipse">
            <a:avLst/>
          </a:prstGeom>
          <a:solidFill>
            <a:srgbClr val="3D7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98864" y="235915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141824"/>
                </a:solidFill>
                <a:latin typeface="Georgia"/>
              </a:rPr>
              <a:t>W4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43416" y="2651760"/>
            <a:ext cx="8686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706C64"/>
                </a:solidFill>
                <a:latin typeface="微软雅黑"/>
              </a:rPr>
              <a:t>部署 + 测试</a:t>
            </a:r>
          </a:p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706C64"/>
                </a:solidFill>
                <a:latin typeface="微软雅黑"/>
              </a:rPr>
              <a:t>截图 / 视频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0" y="2112264"/>
            <a:ext cx="713232" cy="18288"/>
          </a:xfrm>
          <a:prstGeom prst="rect">
            <a:avLst/>
          </a:prstGeom>
          <a:solidFill>
            <a:srgbClr val="DB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351008" y="1965960"/>
            <a:ext cx="310896" cy="310896"/>
          </a:xfrm>
          <a:prstGeom prst="ellipse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77856" y="235915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141824"/>
                </a:solidFill>
                <a:latin typeface="Georgia"/>
              </a:rPr>
              <a:t>W5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22408" y="2651760"/>
            <a:ext cx="8686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706C64"/>
                </a:solidFill>
                <a:latin typeface="微软雅黑"/>
              </a:rPr>
              <a:t>缓冲 / 报告</a:t>
            </a:r>
          </a:p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706C64"/>
                </a:solidFill>
                <a:latin typeface="微软雅黑"/>
              </a:rPr>
              <a:t>答辩演练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393192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06C64"/>
                </a:solidFill>
                <a:latin typeface="微软雅黑"/>
              </a:rPr>
              <a:t>第 1 周先做“3 份店铺配置 + 一个店铺壳 + FPS”，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06C64"/>
                </a:solidFill>
                <a:latin typeface="微软雅黑"/>
              </a:rPr>
              <a:t>再决定视觉预算。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4892040"/>
            <a:ext cx="5303520" cy="1097280"/>
          </a:xfrm>
          <a:prstGeom prst="rect">
            <a:avLst/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5074920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4EFE7"/>
                </a:solidFill>
                <a:latin typeface="微软雅黑"/>
              </a:rPr>
              <a:t>关键路径：3D 场景 + 建站器，不是后台。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539496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BEBCB6"/>
                </a:solidFill>
                <a:latin typeface="微软雅黑"/>
              </a:rPr>
              <a:t>后台是确定性的；3D 需要尽早验证和迭代。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73952"/>
            <a:ext cx="86868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96969B"/>
                </a:solidFill>
                <a:latin typeface="微软雅黑"/>
              </a:rPr>
              <a:t>ERP 1.7 · 元宇宙商圈 · v2 精简版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900" b="1" i="0">
                <a:solidFill>
                  <a:srgbClr val="96969B"/>
                </a:solidFill>
                <a:latin typeface="Georgia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D9A441"/>
                </a:solidFill>
                <a:latin typeface="Georgia"/>
              </a:rPr>
              <a:t>LIVE DEMO /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8580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4EFE7"/>
                </a:solidFill>
                <a:latin typeface="微软雅黑"/>
              </a:rPr>
              <a:t>3 分钟演示脚本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D9A441"/>
                </a:solidFill>
                <a:latin typeface="Georgia"/>
              </a:rPr>
              <a:t>0:00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389888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4EFE7"/>
                </a:solidFill>
                <a:latin typeface="微软雅黑"/>
              </a:rPr>
              <a:t>商圈全景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38988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B9B6B0"/>
                </a:solidFill>
                <a:latin typeface="微软雅黑"/>
              </a:rPr>
              <a:t>3 个门面 / 品牌色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4526280" cy="9144"/>
          </a:xfrm>
          <a:prstGeom prst="rect">
            <a:avLst/>
          </a:prstGeom>
          <a:solidFill>
            <a:srgbClr val="3C4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D9A441"/>
                </a:solidFill>
                <a:latin typeface="Georgia"/>
              </a:rPr>
              <a:t>0:20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048256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4EFE7"/>
                </a:solidFill>
                <a:latin typeface="微软雅黑"/>
              </a:rPr>
              <a:t>进云裳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048256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B9B6B0"/>
                </a:solidFill>
                <a:latin typeface="微软雅黑"/>
              </a:rPr>
              <a:t>看商品 / 加购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32888"/>
            <a:ext cx="4526280" cy="9144"/>
          </a:xfrm>
          <a:prstGeom prst="rect">
            <a:avLst/>
          </a:prstGeom>
          <a:solidFill>
            <a:srgbClr val="3C4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34056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D9A441"/>
                </a:solidFill>
                <a:latin typeface="Georgia"/>
              </a:rPr>
              <a:t>0:50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706624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4EFE7"/>
                </a:solidFill>
                <a:latin typeface="微软雅黑"/>
              </a:rPr>
              <a:t>进青禾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706624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B9B6B0"/>
                </a:solidFill>
                <a:latin typeface="微软雅黑"/>
              </a:rPr>
              <a:t>领券 / 看规则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191256"/>
            <a:ext cx="4526280" cy="9144"/>
          </a:xfrm>
          <a:prstGeom prst="rect">
            <a:avLst/>
          </a:prstGeom>
          <a:solidFill>
            <a:srgbClr val="3C4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92424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D9A441"/>
                </a:solidFill>
                <a:latin typeface="Georgia"/>
              </a:rPr>
              <a:t>1:20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364992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4EFE7"/>
                </a:solidFill>
                <a:latin typeface="微软雅黑"/>
              </a:rPr>
              <a:t>结算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364992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B9B6B0"/>
                </a:solidFill>
                <a:latin typeface="微软雅黑"/>
              </a:rPr>
              <a:t>用券 / 模拟支付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849624"/>
            <a:ext cx="4526280" cy="9144"/>
          </a:xfrm>
          <a:prstGeom prst="rect">
            <a:avLst/>
          </a:prstGeom>
          <a:solidFill>
            <a:srgbClr val="3C4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50791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D9A441"/>
                </a:solidFill>
                <a:latin typeface="Georgia"/>
              </a:rPr>
              <a:t>1:50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023359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4EFE7"/>
                </a:solidFill>
                <a:latin typeface="微软雅黑"/>
              </a:rPr>
              <a:t>建第 4 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4023359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B9B6B0"/>
                </a:solidFill>
                <a:latin typeface="微软雅黑"/>
              </a:rPr>
              <a:t>选模板 / 发布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507992"/>
            <a:ext cx="4526280" cy="9144"/>
          </a:xfrm>
          <a:prstGeom prst="rect">
            <a:avLst/>
          </a:prstGeom>
          <a:solidFill>
            <a:srgbClr val="3C4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709159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D9A441"/>
                </a:solidFill>
                <a:latin typeface="Georgia"/>
              </a:rPr>
              <a:t>2:30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681727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4EFE7"/>
                </a:solidFill>
                <a:latin typeface="微软雅黑"/>
              </a:rPr>
              <a:t>后台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4681727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B9B6B0"/>
                </a:solidFill>
                <a:latin typeface="微软雅黑"/>
              </a:rPr>
              <a:t>订单 / 库存 / 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411480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D9A441"/>
                </a:solidFill>
                <a:latin typeface="Georgia"/>
              </a:rPr>
              <a:t>Q&amp;A PREP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62472" y="685800"/>
            <a:ext cx="53035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F4EFE7"/>
                </a:solidFill>
                <a:latin typeface="微软雅黑"/>
              </a:rPr>
              <a:t>可能被问到的 3 个问题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1417320"/>
            <a:ext cx="5257800" cy="1188720"/>
          </a:xfrm>
          <a:prstGeom prst="rect">
            <a:avLst/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1554480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E07A5F"/>
                </a:solidFill>
                <a:latin typeface="微软雅黑"/>
              </a:rPr>
              <a:t>为什么只有 3 家，不是 6 家？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1874519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D2CEC6"/>
                </a:solidFill>
                <a:latin typeface="微软雅黑"/>
              </a:rPr>
              <a:t>3 家全部完整可进，第 4 家现场生成；“多个”不等于“一堆空门面”。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60" y="2834640"/>
            <a:ext cx="5257800" cy="1188720"/>
          </a:xfrm>
          <a:prstGeom prst="rect">
            <a:avLst/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2971800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E07A5F"/>
                </a:solidFill>
                <a:latin typeface="微软雅黑"/>
              </a:rPr>
              <a:t>SQLite 并发怎么办？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29184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D2CEC6"/>
                </a:solidFill>
                <a:latin typeface="微软雅黑"/>
              </a:rPr>
              <a:t>不用 select_for_update；IMMEDIATE + 条件更新 + 行数检查 + 幂等键。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4251960"/>
            <a:ext cx="5257800" cy="1188720"/>
          </a:xfrm>
          <a:prstGeom prst="rect">
            <a:avLst/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4389120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E07A5F"/>
                </a:solidFill>
                <a:latin typeface="微软雅黑"/>
              </a:rPr>
              <a:t>商家权限怎么隔离？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470916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D2CEC6"/>
                </a:solidFill>
                <a:latin typeface="微软雅黑"/>
              </a:rPr>
              <a:t>MVP 只给平台 Admin；商家登录是 stretch，做独立商家页按 factory 过滤。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9436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4EFE7"/>
                </a:solidFill>
                <a:latin typeface="微软雅黑"/>
              </a:rPr>
              <a:t>谢谢 · Q&amp;A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6080760"/>
            <a:ext cx="52120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96948E"/>
                </a:solidFill>
                <a:latin typeface="微软雅黑"/>
              </a:rPr>
              <a:t>开发后把概念图替换为实机截图 / 录屏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元宇宙商圈 · 课程汇报</dc:title>
  <dc:subject>ERP 课程大作业 题目 1.7 v2</dc:subject>
  <dc:creator>侯福宽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